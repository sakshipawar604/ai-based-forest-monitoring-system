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24"/>
  </p:notesMasterIdLst>
  <p:sldIdLst>
    <p:sldId id="280" r:id="rId2"/>
    <p:sldId id="287" r:id="rId3"/>
    <p:sldId id="286" r:id="rId4"/>
    <p:sldId id="281" r:id="rId5"/>
    <p:sldId id="288" r:id="rId6"/>
    <p:sldId id="295" r:id="rId7"/>
    <p:sldId id="305" r:id="rId8"/>
    <p:sldId id="310" r:id="rId9"/>
    <p:sldId id="311" r:id="rId10"/>
    <p:sldId id="296" r:id="rId11"/>
    <p:sldId id="309" r:id="rId12"/>
    <p:sldId id="301" r:id="rId13"/>
    <p:sldId id="285" r:id="rId14"/>
    <p:sldId id="304" r:id="rId15"/>
    <p:sldId id="303" r:id="rId16"/>
    <p:sldId id="313" r:id="rId17"/>
    <p:sldId id="314" r:id="rId18"/>
    <p:sldId id="308" r:id="rId19"/>
    <p:sldId id="306" r:id="rId20"/>
    <p:sldId id="302" r:id="rId21"/>
    <p:sldId id="294" r:id="rId22"/>
    <p:sldId id="29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p:cViewPr varScale="1">
        <p:scale>
          <a:sx n="78" d="100"/>
          <a:sy n="78" d="100"/>
        </p:scale>
        <p:origin x="1618"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13ADEF-1232-40E6-AA0C-2DC4E3D89003}" type="datetimeFigureOut">
              <a:rPr lang="en-GB" smtClean="0"/>
              <a:pPr/>
              <a:t>21/06/2025</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5E719B-CAD1-4CDF-AC07-FD62E51C143C}" type="slidenum">
              <a:rPr lang="en-GB" smtClean="0"/>
              <a:pPr/>
              <a:t>‹#›</a:t>
            </a:fld>
            <a:endParaRPr lang="en-GB"/>
          </a:p>
        </p:txBody>
      </p:sp>
    </p:spTree>
    <p:extLst>
      <p:ext uri="{BB962C8B-B14F-4D97-AF65-F5344CB8AC3E}">
        <p14:creationId xmlns:p14="http://schemas.microsoft.com/office/powerpoint/2010/main" val="39778126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2</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3</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4</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5</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Rectangle 7"/>
          <p:cNvSpPr>
            <a:spLocks noGrp="1" noChangeArrowheads="1"/>
          </p:cNvSpPr>
          <p:nvPr>
            <p:ph type="sldNum" sz="quarter" idx="5"/>
          </p:nvPr>
        </p:nvSpPr>
        <p:spPr/>
        <p:txBody>
          <a:bodyPr/>
          <a:lstStyle/>
          <a:p>
            <a:fld id="{6BFD01EB-C9A3-4136-A0B1-C6AEC703FF81}" type="slidenum">
              <a:rPr lang="en-US" smtClean="0"/>
              <a:t>13</a:t>
            </a:fld>
            <a:endParaRPr lang="en-US"/>
          </a:p>
        </p:txBody>
      </p:sp>
      <p:sp>
        <p:nvSpPr>
          <p:cNvPr id="1048605" name="Rectangle 2"/>
          <p:cNvSpPr>
            <a:spLocks noGrp="1" noRot="1" noChangeAspect="1" noChangeArrowheads="1" noTextEdit="1"/>
          </p:cNvSpPr>
          <p:nvPr>
            <p:ph type="sldImg"/>
          </p:nvPr>
        </p:nvSpPr>
        <p:spPr/>
      </p:sp>
      <p:sp>
        <p:nvSpPr>
          <p:cNvPr id="1048606" name="Rectangle 3"/>
          <p:cNvSpPr>
            <a:spLocks noGrp="1" noChangeArrowheads="1"/>
          </p:cNvSpPr>
          <p:nvPr>
            <p:ph type="body" idx="1"/>
          </p:nvPr>
        </p:nvSpPr>
        <p:spPr>
          <a:noFill/>
        </p:spPr>
        <p:txBody>
          <a:bodyPr/>
          <a:lstStyle/>
          <a:p>
            <a:pPr eaLnBrk="1" hangingPunct="1"/>
            <a:endParaRPr lang="en-US" dirty="0">
              <a:latin typeface="Arial" panose="020B0604020202020204" pitchFamily="34" charset="0"/>
            </a:endParaRPr>
          </a:p>
        </p:txBody>
      </p:sp>
    </p:spTree>
    <p:extLst>
      <p:ext uri="{BB962C8B-B14F-4D97-AF65-F5344CB8AC3E}">
        <p14:creationId xmlns:p14="http://schemas.microsoft.com/office/powerpoint/2010/main" val="8840087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93EE43D5-2594-4735-80B7-F0E4544112AC}" type="datetime1">
              <a:rPr lang="en-GB" smtClean="0"/>
              <a:t>21/06/2025</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A33F980D-9641-4D55-BA26-2EDCEA9EE1F9}" type="datetime1">
              <a:rPr lang="en-GB" smtClean="0"/>
              <a:t>21/06/2025</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2637F8-03A0-4970-9A0A-BCE5C1C1EC0E}" type="datetime1">
              <a:rPr lang="en-GB" smtClean="0"/>
              <a:t>21/06/2025</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DAAD62D7-D6ED-44F8-A2FC-AD370DF5A044}" type="datetime1">
              <a:rPr lang="en-GB" smtClean="0"/>
              <a:t>21/06/2025</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A74D6229-4D31-4440-844B-D28A91210DCE}" type="datetime1">
              <a:rPr lang="en-GB" smtClean="0"/>
              <a:t>21/06/2025</a:t>
            </a:fld>
            <a:endParaRPr lang="en-GB"/>
          </a:p>
        </p:txBody>
      </p:sp>
      <p:sp>
        <p:nvSpPr>
          <p:cNvPr id="8" name="Footer Placeholder 7"/>
          <p:cNvSpPr>
            <a:spLocks noGrp="1"/>
          </p:cNvSpPr>
          <p:nvPr>
            <p:ph type="ftr" sz="quarter" idx="11"/>
          </p:nvPr>
        </p:nvSpPr>
        <p:spPr/>
        <p:txBody>
          <a:bodyPr/>
          <a:lstStyle/>
          <a:p>
            <a:r>
              <a:rPr lang="en-GB"/>
              <a:t>ICIMSI-2021</a:t>
            </a:r>
          </a:p>
        </p:txBody>
      </p:sp>
      <p:sp>
        <p:nvSpPr>
          <p:cNvPr id="9" name="Slide Number Placeholder 8"/>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06EB690D-B474-4F2D-8063-C3D6525BFDB7}" type="datetime1">
              <a:rPr lang="en-GB" smtClean="0"/>
              <a:t>21/06/2025</a:t>
            </a:fld>
            <a:endParaRPr lang="en-GB"/>
          </a:p>
        </p:txBody>
      </p:sp>
      <p:sp>
        <p:nvSpPr>
          <p:cNvPr id="4" name="Footer Placeholder 3"/>
          <p:cNvSpPr>
            <a:spLocks noGrp="1"/>
          </p:cNvSpPr>
          <p:nvPr>
            <p:ph type="ftr" sz="quarter" idx="11"/>
          </p:nvPr>
        </p:nvSpPr>
        <p:spPr/>
        <p:txBody>
          <a:bodyPr/>
          <a:lstStyle/>
          <a:p>
            <a:r>
              <a:rPr lang="en-GB"/>
              <a:t>ICIMSI-2021</a:t>
            </a:r>
          </a:p>
        </p:txBody>
      </p:sp>
      <p:sp>
        <p:nvSpPr>
          <p:cNvPr id="5" name="Slide Number Placeholder 4"/>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5D96AC-A833-40E3-8856-0B511BFD0B34}" type="datetime1">
              <a:rPr lang="en-GB" smtClean="0"/>
              <a:t>21/06/2025</a:t>
            </a:fld>
            <a:endParaRPr lang="en-GB"/>
          </a:p>
        </p:txBody>
      </p:sp>
      <p:sp>
        <p:nvSpPr>
          <p:cNvPr id="3" name="Footer Placeholder 2"/>
          <p:cNvSpPr>
            <a:spLocks noGrp="1"/>
          </p:cNvSpPr>
          <p:nvPr>
            <p:ph type="ftr" sz="quarter" idx="11"/>
          </p:nvPr>
        </p:nvSpPr>
        <p:spPr/>
        <p:txBody>
          <a:bodyPr/>
          <a:lstStyle/>
          <a:p>
            <a:r>
              <a:rPr lang="en-GB"/>
              <a:t>ICIMSI-2021</a:t>
            </a:r>
          </a:p>
        </p:txBody>
      </p:sp>
      <p:sp>
        <p:nvSpPr>
          <p:cNvPr id="4" name="Slide Number Placeholder 3"/>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F20C083-5B51-4A6F-8A8D-25BF65281288}" type="datetime1">
              <a:rPr lang="en-GB" smtClean="0"/>
              <a:t>21/06/2025</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158CEF-DEAA-4FD7-A123-4034F0FFBE51}" type="datetime1">
              <a:rPr lang="en-GB" smtClean="0"/>
              <a:t>21/06/2025</a:t>
            </a:fld>
            <a:endParaRPr lang="en-GB"/>
          </a:p>
        </p:txBody>
      </p:sp>
      <p:sp>
        <p:nvSpPr>
          <p:cNvPr id="6" name="Footer Placeholder 5"/>
          <p:cNvSpPr>
            <a:spLocks noGrp="1"/>
          </p:cNvSpPr>
          <p:nvPr>
            <p:ph type="ftr" sz="quarter" idx="11"/>
          </p:nvPr>
        </p:nvSpPr>
        <p:spPr/>
        <p:txBody>
          <a:bodyPr/>
          <a:lstStyle/>
          <a:p>
            <a:r>
              <a:rPr lang="en-GB"/>
              <a:t>ICIMSI-2021</a:t>
            </a:r>
          </a:p>
        </p:txBody>
      </p:sp>
      <p:sp>
        <p:nvSpPr>
          <p:cNvPr id="7" name="Slide Number Placeholder 6"/>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D90ED07B-0D58-4238-8D9E-3917EDEFBF11}" type="datetime1">
              <a:rPr lang="en-GB" smtClean="0"/>
              <a:t>21/06/2025</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15D4D9-60EA-4115-9F62-3D25530A60C4}" type="datetime1">
              <a:rPr lang="en-GB" smtClean="0"/>
              <a:t>21/06/2025</a:t>
            </a:fld>
            <a:endParaRPr lang="en-GB"/>
          </a:p>
        </p:txBody>
      </p:sp>
      <p:sp>
        <p:nvSpPr>
          <p:cNvPr id="5" name="Footer Placeholder 4"/>
          <p:cNvSpPr>
            <a:spLocks noGrp="1"/>
          </p:cNvSpPr>
          <p:nvPr>
            <p:ph type="ftr" sz="quarter" idx="11"/>
          </p:nvPr>
        </p:nvSpPr>
        <p:spPr/>
        <p:txBody>
          <a:bodyPr/>
          <a:lstStyle/>
          <a:p>
            <a:r>
              <a:rPr lang="en-GB"/>
              <a:t>ICIMSI-2021</a:t>
            </a:r>
          </a:p>
        </p:txBody>
      </p:sp>
      <p:sp>
        <p:nvSpPr>
          <p:cNvPr id="6" name="Slide Number Placeholder 5"/>
          <p:cNvSpPr>
            <a:spLocks noGrp="1"/>
          </p:cNvSpPr>
          <p:nvPr>
            <p:ph type="sldNum" sz="quarter" idx="12"/>
          </p:nvPr>
        </p:nvSpPr>
        <p:spPr/>
        <p:txBody>
          <a:bodyPr/>
          <a:lstStyle/>
          <a:p>
            <a:fld id="{1EC248AB-E565-412B-9D95-9B07D6A4F3F3}" type="slidenum">
              <a:rPr lang="en-GB" smtClean="0"/>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3102E-B0BC-4EBE-905A-EE89488B9FC5}" type="datetime1">
              <a:rPr lang="en-GB" smtClean="0"/>
              <a:t>21/06/2025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ICIMSI-2021</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EC248AB-E565-412B-9D95-9B07D6A4F3F3}"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5.jp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8690" y="1143664"/>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 </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a:t>
            </a:fld>
            <a:endParaRPr lang="en-GB" b="1" dirty="0">
              <a:solidFill>
                <a:schemeClr val="tx1"/>
              </a:solidFill>
            </a:endParaRPr>
          </a:p>
        </p:txBody>
      </p:sp>
      <p:sp>
        <p:nvSpPr>
          <p:cNvPr id="4" name="TextBox 3"/>
          <p:cNvSpPr txBox="1"/>
          <p:nvPr/>
        </p:nvSpPr>
        <p:spPr>
          <a:xfrm>
            <a:off x="539552" y="1484784"/>
            <a:ext cx="8091772" cy="4893647"/>
          </a:xfrm>
          <a:prstGeom prst="rect">
            <a:avLst/>
          </a:prstGeom>
          <a:noFill/>
        </p:spPr>
        <p:txBody>
          <a:bodyPr wrap="square" rtlCol="0">
            <a:spAutoFit/>
          </a:bodyPr>
          <a:lstStyle/>
          <a:p>
            <a:pPr algn="ctr"/>
            <a:endParaRPr lang="en-US" dirty="0"/>
          </a:p>
          <a:p>
            <a:pPr algn="ctr"/>
            <a:r>
              <a:rPr lang="en-US" dirty="0"/>
              <a:t>Presentation on</a:t>
            </a:r>
          </a:p>
          <a:p>
            <a:pPr algn="ctr"/>
            <a:endParaRPr lang="en-US" dirty="0"/>
          </a:p>
          <a:p>
            <a:pPr algn="ctr"/>
            <a:r>
              <a:rPr lang="en-US" sz="2400" b="1" dirty="0"/>
              <a:t>AI Based Forest Monitoring System </a:t>
            </a:r>
          </a:p>
          <a:p>
            <a:pPr algn="ctr"/>
            <a:r>
              <a:rPr lang="en-US" b="1" dirty="0"/>
              <a:t>By</a:t>
            </a:r>
          </a:p>
          <a:p>
            <a:pPr algn="ctr"/>
            <a:endParaRPr lang="en-US" dirty="0"/>
          </a:p>
          <a:p>
            <a:pPr algn="ctr"/>
            <a:r>
              <a:rPr lang="en-US" b="1" dirty="0"/>
              <a:t>Utkarsh Pol (Roll No.22)</a:t>
            </a:r>
          </a:p>
          <a:p>
            <a:pPr algn="ctr"/>
            <a:r>
              <a:rPr lang="en-US" b="1" dirty="0"/>
              <a:t>Shravani </a:t>
            </a:r>
            <a:r>
              <a:rPr lang="en-US" b="1" dirty="0" err="1"/>
              <a:t>Waghawale</a:t>
            </a:r>
            <a:r>
              <a:rPr lang="en-US" b="1" dirty="0"/>
              <a:t>(Roll No.35)</a:t>
            </a:r>
          </a:p>
          <a:p>
            <a:pPr algn="ctr"/>
            <a:r>
              <a:rPr lang="en-US" b="1" dirty="0"/>
              <a:t>Aarti Lugade (Roll no.45)</a:t>
            </a:r>
          </a:p>
          <a:p>
            <a:pPr algn="ctr"/>
            <a:r>
              <a:rPr lang="en-US" b="1" dirty="0"/>
              <a:t>Sakshi Pawar(Roll No.51)</a:t>
            </a:r>
          </a:p>
          <a:p>
            <a:pPr algn="ctr"/>
            <a:endParaRPr lang="en-US" b="1" dirty="0"/>
          </a:p>
          <a:p>
            <a:pPr algn="ctr"/>
            <a:r>
              <a:rPr lang="en-US" dirty="0"/>
              <a:t>Under the guidance of </a:t>
            </a:r>
          </a:p>
          <a:p>
            <a:pPr algn="ctr"/>
            <a:r>
              <a:rPr lang="en-US" dirty="0">
                <a:latin typeface="Times New Roman" panose="02020603050405020304" pitchFamily="18" charset="0"/>
                <a:ea typeface="Times New Roman" panose="02020603050405020304" pitchFamily="18" charset="0"/>
              </a:rPr>
              <a:t>Dr </a:t>
            </a:r>
            <a:r>
              <a:rPr lang="en-US" sz="1800" dirty="0">
                <a:effectLst/>
                <a:latin typeface="Times New Roman" panose="02020603050405020304" pitchFamily="18" charset="0"/>
                <a:ea typeface="Times New Roman" panose="02020603050405020304" pitchFamily="18" charset="0"/>
              </a:rPr>
              <a:t>.Dhanashree Kulkarni </a:t>
            </a:r>
            <a:endParaRPr lang="en-IN" sz="1800" dirty="0">
              <a:effectLst/>
              <a:latin typeface="Times New Roman" panose="02020603050405020304" pitchFamily="18" charset="0"/>
              <a:ea typeface="Times New Roman" panose="02020603050405020304" pitchFamily="18" charset="0"/>
            </a:endParaRPr>
          </a:p>
          <a:p>
            <a:pPr algn="ctr"/>
            <a:endParaRPr lang="en-US" dirty="0"/>
          </a:p>
          <a:p>
            <a:pPr algn="ctr"/>
            <a:r>
              <a:rPr lang="en-US" b="1" dirty="0"/>
              <a:t>Department of Computer Science Engineering  (Artificial Intelligence)</a:t>
            </a:r>
          </a:p>
          <a:p>
            <a:pPr algn="ctr"/>
            <a:endParaRPr lang="en-US" dirty="0"/>
          </a:p>
          <a:p>
            <a:endParaRPr lang="en-US" dirty="0"/>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3" name="Date Placeholder 2"/>
          <p:cNvSpPr>
            <a:spLocks noGrp="1"/>
          </p:cNvSpPr>
          <p:nvPr>
            <p:ph type="dt" sz="half" idx="10"/>
          </p:nvPr>
        </p:nvSpPr>
        <p:spPr>
          <a:xfrm flipV="1">
            <a:off x="1115616" y="8063800"/>
            <a:ext cx="1584176" cy="45719"/>
          </a:xfrm>
        </p:spPr>
        <p:txBody>
          <a:bodyPr/>
          <a:lstStyle/>
          <a:p>
            <a:endParaRPr lang="en-GB" sz="1600" dirty="0">
              <a:solidFill>
                <a:schemeClr val="tx1"/>
              </a:solidFill>
            </a:endParaRPr>
          </a:p>
        </p:txBody>
      </p:sp>
    </p:spTree>
    <p:extLst>
      <p:ext uri="{BB962C8B-B14F-4D97-AF65-F5344CB8AC3E}">
        <p14:creationId xmlns:p14="http://schemas.microsoft.com/office/powerpoint/2010/main" val="24173188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 Project Presentation</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2</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F12FD77-2192-DAB2-7361-152245577CC7}"/>
              </a:ext>
            </a:extLst>
          </p:cNvPr>
          <p:cNvSpPr txBox="1"/>
          <p:nvPr/>
        </p:nvSpPr>
        <p:spPr>
          <a:xfrm>
            <a:off x="1927999" y="1821548"/>
            <a:ext cx="5215993"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Introduction</a:t>
            </a:r>
            <a:endParaRPr lang="en-IN" sz="24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7DE8093A-FF27-8671-F9DC-84AB4A7EE2CE}"/>
              </a:ext>
            </a:extLst>
          </p:cNvPr>
          <p:cNvSpPr txBox="1"/>
          <p:nvPr/>
        </p:nvSpPr>
        <p:spPr>
          <a:xfrm>
            <a:off x="467544" y="2635059"/>
            <a:ext cx="8136904"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Forests play a crucial role in maintaining ecological balance by supporting biodiversity, regulating climate, and providing numerous resources. However, deforestation, habitat loss, and environmental degradation pose significant challenges. Technological advancements, particularly in image analytics and artificial intelligence, have enabled better monitoring and management of forest resources. This study focuses on tree counting, species identification, canopy segmentation, deforestation detection to enhance forest conservation efforts.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03402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 Project Presentation </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3</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B5EDD53-395B-F8D4-4C55-5DBDC8575D52}"/>
              </a:ext>
            </a:extLst>
          </p:cNvPr>
          <p:cNvSpPr txBox="1"/>
          <p:nvPr/>
        </p:nvSpPr>
        <p:spPr>
          <a:xfrm>
            <a:off x="2239836" y="1814785"/>
            <a:ext cx="4592320"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Problem Statement</a:t>
            </a:r>
            <a:endParaRPr lang="en-IN" sz="2400" b="1" dirty="0">
              <a:latin typeface="Times New Roman" panose="02020603050405020304" pitchFamily="18" charset="0"/>
              <a:cs typeface="Times New Roman" panose="02020603050405020304" pitchFamily="18" charset="0"/>
            </a:endParaRPr>
          </a:p>
        </p:txBody>
      </p:sp>
      <p:sp>
        <p:nvSpPr>
          <p:cNvPr id="8" name="Rectangle 3">
            <a:extLst>
              <a:ext uri="{FF2B5EF4-FFF2-40B4-BE49-F238E27FC236}">
                <a16:creationId xmlns:a16="http://schemas.microsoft.com/office/drawing/2014/main" id="{EB738648-34E3-3FEC-F174-D0B8B0821D4F}"/>
              </a:ext>
            </a:extLst>
          </p:cNvPr>
          <p:cNvSpPr>
            <a:spLocks noChangeArrowheads="1"/>
          </p:cNvSpPr>
          <p:nvPr/>
        </p:nvSpPr>
        <p:spPr bwMode="auto">
          <a:xfrm>
            <a:off x="756084" y="2963395"/>
            <a:ext cx="763234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Monitoring and managing forests manually is labor-intensive, time-consuming, and prone to errors. Traditional methods lack efficiency in assessing tree species, detecting deforestation, and tracking wildlife populations. There is a need for an automated system that utilizes advanced image processing and AI techniques to analyze forest landscapes accurately and efficiently.</a:t>
            </a:r>
          </a:p>
        </p:txBody>
      </p:sp>
    </p:spTree>
    <p:extLst>
      <p:ext uri="{BB962C8B-B14F-4D97-AF65-F5344CB8AC3E}">
        <p14:creationId xmlns:p14="http://schemas.microsoft.com/office/powerpoint/2010/main" val="12188718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4</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FCD45D4-4D16-8D83-EA0B-BADC76AFBB2A}"/>
              </a:ext>
            </a:extLst>
          </p:cNvPr>
          <p:cNvSpPr txBox="1"/>
          <p:nvPr/>
        </p:nvSpPr>
        <p:spPr>
          <a:xfrm>
            <a:off x="756084" y="2996952"/>
            <a:ext cx="7488324" cy="3416320"/>
          </a:xfrm>
          <a:prstGeom prst="rect">
            <a:avLst/>
          </a:prstGeom>
          <a:noFill/>
        </p:spPr>
        <p:txBody>
          <a:bodyPr wrap="square">
            <a:spAutoFit/>
          </a:bodyPr>
          <a:lstStyle/>
          <a:p>
            <a:pPr algn="just"/>
            <a:r>
              <a:rPr lang="en-US" dirty="0"/>
              <a:t> </a:t>
            </a:r>
          </a:p>
          <a:p>
            <a:pPr algn="just"/>
            <a:r>
              <a:rPr lang="en-US" dirty="0">
                <a:latin typeface="Times New Roman" panose="02020603050405020304" pitchFamily="18" charset="0"/>
                <a:cs typeface="Times New Roman" panose="02020603050405020304" pitchFamily="18" charset="0"/>
              </a:rPr>
              <a:t>To address these challenges, we propose an AI-based image analytics system that leverages deep learning for tree counting and species classification, ensuring accurate and efficient monitoring. The system incorporates canopy segmentation models to analyze forest density and health, providing valuable insights into vegetation coverage. Additionally, it utilizes satellite imagery and advanced algorithms to detect deforestation trends, enabling timely intervention. For wildlife monitoring, AI-based object detection models will be employed to identify and track animals, supporting biodiversity conservation. This automated system will deliver real-time, data-driven insights, enhancing forest management and conservation efforts.</a:t>
            </a:r>
            <a:endParaRPr lang="en-US" dirty="0"/>
          </a:p>
          <a:p>
            <a:pPr algn="just"/>
            <a:endParaRPr lang="en-IN" dirty="0"/>
          </a:p>
        </p:txBody>
      </p:sp>
      <p:sp>
        <p:nvSpPr>
          <p:cNvPr id="6" name="TextBox 5">
            <a:extLst>
              <a:ext uri="{FF2B5EF4-FFF2-40B4-BE49-F238E27FC236}">
                <a16:creationId xmlns:a16="http://schemas.microsoft.com/office/drawing/2014/main" id="{58C933FD-6E09-2916-E53E-6B6AC212385A}"/>
              </a:ext>
            </a:extLst>
          </p:cNvPr>
          <p:cNvSpPr txBox="1"/>
          <p:nvPr/>
        </p:nvSpPr>
        <p:spPr>
          <a:xfrm>
            <a:off x="2275609" y="2005944"/>
            <a:ext cx="4592782"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Problem Solution</a:t>
            </a:r>
          </a:p>
        </p:txBody>
      </p:sp>
    </p:spTree>
    <p:extLst>
      <p:ext uri="{BB962C8B-B14F-4D97-AF65-F5344CB8AC3E}">
        <p14:creationId xmlns:p14="http://schemas.microsoft.com/office/powerpoint/2010/main" val="17041500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5</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AC3C577-B6CC-9418-D984-C2E94C5E4E25}"/>
              </a:ext>
            </a:extLst>
          </p:cNvPr>
          <p:cNvSpPr txBox="1"/>
          <p:nvPr/>
        </p:nvSpPr>
        <p:spPr>
          <a:xfrm>
            <a:off x="2240164" y="1627010"/>
            <a:ext cx="4591664"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Objectives</a:t>
            </a:r>
          </a:p>
        </p:txBody>
      </p:sp>
      <p:sp>
        <p:nvSpPr>
          <p:cNvPr id="7" name="TextBox 6">
            <a:extLst>
              <a:ext uri="{FF2B5EF4-FFF2-40B4-BE49-F238E27FC236}">
                <a16:creationId xmlns:a16="http://schemas.microsoft.com/office/drawing/2014/main" id="{FCBD8CBF-19EF-9BFD-9912-FE059E6E0CE0}"/>
              </a:ext>
            </a:extLst>
          </p:cNvPr>
          <p:cNvSpPr txBox="1"/>
          <p:nvPr/>
        </p:nvSpPr>
        <p:spPr>
          <a:xfrm>
            <a:off x="251520" y="2492896"/>
            <a:ext cx="8640960" cy="2308324"/>
          </a:xfrm>
          <a:prstGeom prst="rect">
            <a:avLst/>
          </a:prstGeom>
          <a:noFill/>
        </p:spPr>
        <p:txBody>
          <a:bodyPr wrap="square">
            <a:spAutoFit/>
          </a:bodyPr>
          <a:lstStyle/>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Tree counting.: </a:t>
            </a:r>
            <a:r>
              <a:rPr lang="en-US" dirty="0">
                <a:latin typeface="Times New Roman" panose="02020603050405020304" pitchFamily="18" charset="0"/>
                <a:cs typeface="Times New Roman" panose="02020603050405020304" pitchFamily="18" charset="0"/>
              </a:rPr>
              <a:t>Develop an automated AI model to accurately detect and count trees using arial imagery</a:t>
            </a:r>
            <a:r>
              <a:rPr lang="en-US" b="1" dirty="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​Tree Species Identification </a:t>
            </a:r>
            <a:r>
              <a:rPr lang="en-US" dirty="0">
                <a:latin typeface="Times New Roman" panose="02020603050405020304" pitchFamily="18" charset="0"/>
                <a:cs typeface="Times New Roman" panose="02020603050405020304" pitchFamily="18" charset="0"/>
              </a:rPr>
              <a:t>– Implement deep learning techniques to classify different tree species based on leaf patterns, bark texture, and spectral data.​</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Canopy Segmentation – </a:t>
            </a:r>
            <a:r>
              <a:rPr lang="en-US" dirty="0">
                <a:latin typeface="Times New Roman" panose="02020603050405020304" pitchFamily="18" charset="0"/>
                <a:cs typeface="Times New Roman" panose="02020603050405020304" pitchFamily="18" charset="0"/>
              </a:rPr>
              <a:t>Utilize image segmentation models to analyze forest canopy density for better ecosystem assessment.</a:t>
            </a:r>
            <a:r>
              <a:rPr lang="en-US" b="1" dirty="0">
                <a:latin typeface="Times New Roman" panose="02020603050405020304" pitchFamily="18" charset="0"/>
                <a:cs typeface="Times New Roman" panose="02020603050405020304" pitchFamily="18" charset="0"/>
              </a:rPr>
              <a:t>​</a:t>
            </a:r>
          </a:p>
          <a:p>
            <a:pPr marL="342900" indent="-342900" algn="just">
              <a:buFont typeface="+mj-lt"/>
              <a:buAutoNum type="arabicPeriod"/>
            </a:pPr>
            <a:r>
              <a:rPr lang="en-US" b="1" dirty="0">
                <a:latin typeface="Times New Roman" panose="02020603050405020304" pitchFamily="18" charset="0"/>
                <a:cs typeface="Times New Roman" panose="02020603050405020304" pitchFamily="18" charset="0"/>
              </a:rPr>
              <a:t>Deforestation Detection – </a:t>
            </a:r>
            <a:r>
              <a:rPr lang="en-US" dirty="0">
                <a:latin typeface="Times New Roman" panose="02020603050405020304" pitchFamily="18" charset="0"/>
                <a:cs typeface="Times New Roman" panose="02020603050405020304" pitchFamily="18" charset="0"/>
              </a:rPr>
              <a:t>Apply arial image processing and identify deforestation patterns over time.</a:t>
            </a:r>
          </a:p>
        </p:txBody>
      </p:sp>
    </p:spTree>
    <p:extLst>
      <p:ext uri="{BB962C8B-B14F-4D97-AF65-F5344CB8AC3E}">
        <p14:creationId xmlns:p14="http://schemas.microsoft.com/office/powerpoint/2010/main" val="17651949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AE6772-A5B7-34B5-2AC9-C459FA2CD0A6}"/>
              </a:ext>
            </a:extLst>
          </p:cNvPr>
          <p:cNvSpPr>
            <a:spLocks noGrp="1"/>
          </p:cNvSpPr>
          <p:nvPr>
            <p:ph type="sldNum" sz="quarter" idx="12"/>
          </p:nvPr>
        </p:nvSpPr>
        <p:spPr/>
        <p:txBody>
          <a:bodyPr/>
          <a:lstStyle/>
          <a:p>
            <a:fld id="{1EC248AB-E565-412B-9D95-9B07D6A4F3F3}" type="slidenum">
              <a:rPr lang="en-GB" smtClean="0"/>
              <a:pPr/>
              <a:t>6</a:t>
            </a:fld>
            <a:endParaRPr lang="en-GB"/>
          </a:p>
        </p:txBody>
      </p:sp>
      <p:sp>
        <p:nvSpPr>
          <p:cNvPr id="3" name="TextBox 7">
            <a:extLst>
              <a:ext uri="{FF2B5EF4-FFF2-40B4-BE49-F238E27FC236}">
                <a16:creationId xmlns:a16="http://schemas.microsoft.com/office/drawing/2014/main" id="{B6D21C07-71A9-1780-0726-0767EA2B9055}"/>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pic>
        <p:nvPicPr>
          <p:cNvPr id="4" name="Picture 6">
            <a:extLst>
              <a:ext uri="{FF2B5EF4-FFF2-40B4-BE49-F238E27FC236}">
                <a16:creationId xmlns:a16="http://schemas.microsoft.com/office/drawing/2014/main" id="{9966D950-0E46-5BA5-64A7-71ED3D1C7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5" name="Picture 2">
            <a:extLst>
              <a:ext uri="{FF2B5EF4-FFF2-40B4-BE49-F238E27FC236}">
                <a16:creationId xmlns:a16="http://schemas.microsoft.com/office/drawing/2014/main" id="{9991793B-EA09-FE35-3699-49D7AD7140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3" descr="C:\Users\admin\Desktop\download.png">
            <a:extLst>
              <a:ext uri="{FF2B5EF4-FFF2-40B4-BE49-F238E27FC236}">
                <a16:creationId xmlns:a16="http://schemas.microsoft.com/office/drawing/2014/main" id="{1068DD3F-3575-690F-9A8B-D502FEAC4D7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010EA3D-C366-E341-1A58-60E70AA07639}"/>
              </a:ext>
            </a:extLst>
          </p:cNvPr>
          <p:cNvSpPr txBox="1"/>
          <p:nvPr/>
        </p:nvSpPr>
        <p:spPr>
          <a:xfrm>
            <a:off x="45840" y="3244334"/>
            <a:ext cx="6840734" cy="400110"/>
          </a:xfrm>
          <a:prstGeom prst="rect">
            <a:avLst/>
          </a:prstGeom>
          <a:noFill/>
        </p:spPr>
        <p:txBody>
          <a:bodyPr wrap="square">
            <a:spAutoFit/>
          </a:bodyPr>
          <a:lstStyle/>
          <a:p>
            <a:pPr algn="l" fontAlgn="auto"/>
            <a:r>
              <a:rPr lang="en-IN" sz="2000" i="0" dirty="0">
                <a:effectLst/>
              </a:rPr>
              <a:t> </a:t>
            </a:r>
          </a:p>
        </p:txBody>
      </p:sp>
      <p:sp>
        <p:nvSpPr>
          <p:cNvPr id="8" name="TextBox 7">
            <a:extLst>
              <a:ext uri="{FF2B5EF4-FFF2-40B4-BE49-F238E27FC236}">
                <a16:creationId xmlns:a16="http://schemas.microsoft.com/office/drawing/2014/main" id="{BD43CBAF-9F33-1AED-3136-2C65BDB541E6}"/>
              </a:ext>
            </a:extLst>
          </p:cNvPr>
          <p:cNvSpPr txBox="1"/>
          <p:nvPr/>
        </p:nvSpPr>
        <p:spPr>
          <a:xfrm>
            <a:off x="3347864" y="1572261"/>
            <a:ext cx="4591664"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Literature</a:t>
            </a:r>
            <a:r>
              <a:rPr lang="en-IN" sz="2400" b="1" dirty="0"/>
              <a:t> </a:t>
            </a:r>
            <a:r>
              <a:rPr lang="en-IN" sz="2400" b="1" dirty="0">
                <a:latin typeface="Times New Roman" panose="02020603050405020304" pitchFamily="18" charset="0"/>
                <a:cs typeface="Times New Roman" panose="02020603050405020304" pitchFamily="18" charset="0"/>
              </a:rPr>
              <a:t>Survey</a:t>
            </a:r>
            <a:endParaRPr lang="en-IN" sz="24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EF36EAA3-F1F8-C19D-8D0F-E9AC1B34AF4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3528" y="1572261"/>
            <a:ext cx="8335800" cy="5025092"/>
          </a:xfrm>
          <a:prstGeom prst="rect">
            <a:avLst/>
          </a:prstGeom>
        </p:spPr>
      </p:pic>
    </p:spTree>
    <p:extLst>
      <p:ext uri="{BB962C8B-B14F-4D97-AF65-F5344CB8AC3E}">
        <p14:creationId xmlns:p14="http://schemas.microsoft.com/office/powerpoint/2010/main" val="26606628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9D4CBA-513E-0D42-1037-C1AEA983A5A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7750E6-6B14-1B6D-8F74-E2524CA4CD3B}"/>
              </a:ext>
            </a:extLst>
          </p:cNvPr>
          <p:cNvSpPr>
            <a:spLocks noGrp="1"/>
          </p:cNvSpPr>
          <p:nvPr>
            <p:ph type="sldNum" sz="quarter" idx="12"/>
          </p:nvPr>
        </p:nvSpPr>
        <p:spPr/>
        <p:txBody>
          <a:bodyPr/>
          <a:lstStyle/>
          <a:p>
            <a:fld id="{1EC248AB-E565-412B-9D95-9B07D6A4F3F3}" type="slidenum">
              <a:rPr lang="en-GB" smtClean="0"/>
              <a:pPr/>
              <a:t>7</a:t>
            </a:fld>
            <a:endParaRPr lang="en-GB"/>
          </a:p>
        </p:txBody>
      </p:sp>
      <p:sp>
        <p:nvSpPr>
          <p:cNvPr id="3" name="TextBox 7">
            <a:extLst>
              <a:ext uri="{FF2B5EF4-FFF2-40B4-BE49-F238E27FC236}">
                <a16:creationId xmlns:a16="http://schemas.microsoft.com/office/drawing/2014/main" id="{503B4BBE-79F8-DF29-BC13-732112755AF7}"/>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 </a:t>
            </a:r>
            <a:endParaRPr lang="en-IN" sz="1600" b="1" dirty="0">
              <a:latin typeface="Arial Narrow" panose="020B0606020202030204" pitchFamily="34" charset="0"/>
            </a:endParaRPr>
          </a:p>
        </p:txBody>
      </p:sp>
      <p:pic>
        <p:nvPicPr>
          <p:cNvPr id="6" name="Picture 2">
            <a:extLst>
              <a:ext uri="{FF2B5EF4-FFF2-40B4-BE49-F238E27FC236}">
                <a16:creationId xmlns:a16="http://schemas.microsoft.com/office/drawing/2014/main" id="{5C4296E6-CA6B-D459-D881-B895ECE26F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57B84617-3EC6-6F07-B326-AEDBA4F133B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8" name="Picture 3" descr="C:\Users\admin\Desktop\download.png">
            <a:extLst>
              <a:ext uri="{FF2B5EF4-FFF2-40B4-BE49-F238E27FC236}">
                <a16:creationId xmlns:a16="http://schemas.microsoft.com/office/drawing/2014/main" id="{F0DF4212-EBAD-3C3A-7929-0E8844D83C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0753D0C2-C038-4B66-C47E-9E31FFC4DB6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6512" y="1556792"/>
            <a:ext cx="9107488" cy="5301208"/>
          </a:xfrm>
          <a:prstGeom prst="rect">
            <a:avLst/>
          </a:prstGeom>
        </p:spPr>
      </p:pic>
    </p:spTree>
    <p:extLst>
      <p:ext uri="{BB962C8B-B14F-4D97-AF65-F5344CB8AC3E}">
        <p14:creationId xmlns:p14="http://schemas.microsoft.com/office/powerpoint/2010/main" val="2488302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AB6FF-850B-EF15-54FD-90471485C2F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45CC97-EB1B-11B5-ECAA-BD109B1D8D4F}"/>
              </a:ext>
            </a:extLst>
          </p:cNvPr>
          <p:cNvSpPr>
            <a:spLocks noGrp="1"/>
          </p:cNvSpPr>
          <p:nvPr>
            <p:ph type="sldNum" sz="quarter" idx="12"/>
          </p:nvPr>
        </p:nvSpPr>
        <p:spPr/>
        <p:txBody>
          <a:bodyPr/>
          <a:lstStyle/>
          <a:p>
            <a:fld id="{1EC248AB-E565-412B-9D95-9B07D6A4F3F3}" type="slidenum">
              <a:rPr lang="en-GB" smtClean="0"/>
              <a:pPr/>
              <a:t>8</a:t>
            </a:fld>
            <a:endParaRPr lang="en-GB"/>
          </a:p>
        </p:txBody>
      </p:sp>
      <p:pic>
        <p:nvPicPr>
          <p:cNvPr id="3" name="Picture 2">
            <a:extLst>
              <a:ext uri="{FF2B5EF4-FFF2-40B4-BE49-F238E27FC236}">
                <a16:creationId xmlns:a16="http://schemas.microsoft.com/office/drawing/2014/main" id="{C19863A7-1816-89A1-9E88-69AC50A706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7">
            <a:extLst>
              <a:ext uri="{FF2B5EF4-FFF2-40B4-BE49-F238E27FC236}">
                <a16:creationId xmlns:a16="http://schemas.microsoft.com/office/drawing/2014/main" id="{53A1E7B0-7FFD-3AEB-D2CF-79D8663241C0}"/>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 Project Presentation</a:t>
            </a:r>
            <a:endParaRPr lang="en-IN" sz="1600" b="1" dirty="0">
              <a:latin typeface="Arial Narrow" panose="020B0606020202030204" pitchFamily="34" charset="0"/>
            </a:endParaRPr>
          </a:p>
        </p:txBody>
      </p:sp>
      <p:pic>
        <p:nvPicPr>
          <p:cNvPr id="5" name="Picture 6">
            <a:extLst>
              <a:ext uri="{FF2B5EF4-FFF2-40B4-BE49-F238E27FC236}">
                <a16:creationId xmlns:a16="http://schemas.microsoft.com/office/drawing/2014/main" id="{A83F7ED7-F385-9A06-D8F5-53BD98B160D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6" name="Picture 3" descr="C:\Users\admin\Desktop\download.png">
            <a:extLst>
              <a:ext uri="{FF2B5EF4-FFF2-40B4-BE49-F238E27FC236}">
                <a16:creationId xmlns:a16="http://schemas.microsoft.com/office/drawing/2014/main" id="{E8D2EC9E-C781-C57D-ABF8-C43B045F0F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4BF2A94-E3C6-DF02-3FBC-02547CB1F464}"/>
              </a:ext>
            </a:extLst>
          </p:cNvPr>
          <p:cNvSpPr txBox="1"/>
          <p:nvPr/>
        </p:nvSpPr>
        <p:spPr>
          <a:xfrm>
            <a:off x="611560" y="2399402"/>
            <a:ext cx="7632848" cy="369332"/>
          </a:xfrm>
          <a:prstGeom prst="rect">
            <a:avLst/>
          </a:prstGeom>
          <a:noFill/>
        </p:spPr>
        <p:txBody>
          <a:bodyPr wrap="square">
            <a:spAutoFit/>
          </a:bodyPr>
          <a:lstStyle/>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39D8558C-22D9-B5CE-058D-F182AE384317}"/>
              </a:ext>
            </a:extLst>
          </p:cNvPr>
          <p:cNvPicPr>
            <a:picLocks noChangeAspect="1"/>
          </p:cNvPicPr>
          <p:nvPr/>
        </p:nvPicPr>
        <p:blipFill>
          <a:blip r:embed="rId5"/>
          <a:stretch>
            <a:fillRect/>
          </a:stretch>
        </p:blipFill>
        <p:spPr>
          <a:xfrm>
            <a:off x="457200" y="1572254"/>
            <a:ext cx="8047606" cy="5171565"/>
          </a:xfrm>
          <a:prstGeom prst="rect">
            <a:avLst/>
          </a:prstGeom>
        </p:spPr>
      </p:pic>
    </p:spTree>
    <p:extLst>
      <p:ext uri="{BB962C8B-B14F-4D97-AF65-F5344CB8AC3E}">
        <p14:creationId xmlns:p14="http://schemas.microsoft.com/office/powerpoint/2010/main" val="9938070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245E1-928B-ADEF-F02A-F68ADCF0A8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ED34F8-0764-69A0-C19D-F5803038CC03}"/>
              </a:ext>
            </a:extLst>
          </p:cNvPr>
          <p:cNvSpPr>
            <a:spLocks noGrp="1"/>
          </p:cNvSpPr>
          <p:nvPr>
            <p:ph type="sldNum" sz="quarter" idx="12"/>
          </p:nvPr>
        </p:nvSpPr>
        <p:spPr/>
        <p:txBody>
          <a:bodyPr/>
          <a:lstStyle/>
          <a:p>
            <a:fld id="{1EC248AB-E565-412B-9D95-9B07D6A4F3F3}" type="slidenum">
              <a:rPr lang="en-GB" smtClean="0"/>
              <a:pPr/>
              <a:t>9</a:t>
            </a:fld>
            <a:endParaRPr lang="en-GB"/>
          </a:p>
        </p:txBody>
      </p:sp>
      <p:pic>
        <p:nvPicPr>
          <p:cNvPr id="3" name="Picture 2">
            <a:extLst>
              <a:ext uri="{FF2B5EF4-FFF2-40B4-BE49-F238E27FC236}">
                <a16:creationId xmlns:a16="http://schemas.microsoft.com/office/drawing/2014/main" id="{EF255E02-6435-B04E-6862-9B17E228D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7">
            <a:extLst>
              <a:ext uri="{FF2B5EF4-FFF2-40B4-BE49-F238E27FC236}">
                <a16:creationId xmlns:a16="http://schemas.microsoft.com/office/drawing/2014/main" id="{CB3FFE26-C1A4-F64D-2B70-319CD256EE6D}"/>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 Project Presentation</a:t>
            </a:r>
            <a:endParaRPr lang="en-IN" sz="1600" b="1" dirty="0">
              <a:latin typeface="Arial Narrow" panose="020B0606020202030204" pitchFamily="34" charset="0"/>
            </a:endParaRPr>
          </a:p>
        </p:txBody>
      </p:sp>
      <p:pic>
        <p:nvPicPr>
          <p:cNvPr id="5" name="Picture 6">
            <a:extLst>
              <a:ext uri="{FF2B5EF4-FFF2-40B4-BE49-F238E27FC236}">
                <a16:creationId xmlns:a16="http://schemas.microsoft.com/office/drawing/2014/main" id="{9007F791-FB33-AF82-5BD9-E4BAEEF383B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6" name="Picture 3" descr="C:\Users\admin\Desktop\download.png">
            <a:extLst>
              <a:ext uri="{FF2B5EF4-FFF2-40B4-BE49-F238E27FC236}">
                <a16:creationId xmlns:a16="http://schemas.microsoft.com/office/drawing/2014/main" id="{D98B32C6-1C5D-9F65-0FF0-69C4D354403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7EC86469-0B53-C132-6901-CB6D533C34D0}"/>
              </a:ext>
            </a:extLst>
          </p:cNvPr>
          <p:cNvSpPr txBox="1"/>
          <p:nvPr/>
        </p:nvSpPr>
        <p:spPr>
          <a:xfrm>
            <a:off x="503548" y="1658500"/>
            <a:ext cx="7848872" cy="461665"/>
          </a:xfrm>
          <a:prstGeom prst="rect">
            <a:avLst/>
          </a:prstGeom>
          <a:noFill/>
        </p:spPr>
        <p:txBody>
          <a:bodyPr wrap="square">
            <a:spAutoFit/>
          </a:bodyPr>
          <a:lstStyle/>
          <a:p>
            <a:pPr algn="ctr"/>
            <a:r>
              <a:rPr lang="en-IN" sz="2400" b="1" dirty="0">
                <a:latin typeface="Times New Roman" panose="02020603050405020304" pitchFamily="18" charset="0"/>
                <a:ea typeface="SimSun-ExtG" panose="02010609060101010101" pitchFamily="49" charset="-122"/>
                <a:cs typeface="Times New Roman" panose="02020603050405020304" pitchFamily="18" charset="0"/>
              </a:rPr>
              <a:t>Methodology</a:t>
            </a:r>
          </a:p>
        </p:txBody>
      </p:sp>
      <p:sp>
        <p:nvSpPr>
          <p:cNvPr id="12" name="TextBox 11">
            <a:extLst>
              <a:ext uri="{FF2B5EF4-FFF2-40B4-BE49-F238E27FC236}">
                <a16:creationId xmlns:a16="http://schemas.microsoft.com/office/drawing/2014/main" id="{6187A588-07D4-E835-88AF-13E3CBCDACEF}"/>
              </a:ext>
            </a:extLst>
          </p:cNvPr>
          <p:cNvSpPr txBox="1"/>
          <p:nvPr/>
        </p:nvSpPr>
        <p:spPr>
          <a:xfrm>
            <a:off x="611560" y="2399402"/>
            <a:ext cx="7632848" cy="3970318"/>
          </a:xfrm>
          <a:prstGeom prst="rect">
            <a:avLst/>
          </a:prstGeom>
          <a:noFill/>
        </p:spPr>
        <p:txBody>
          <a:bodyPr wrap="square">
            <a:spAutoFit/>
          </a:bodyPr>
          <a:lstStyle/>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Collection </a:t>
            </a:r>
            <a:r>
              <a:rPr lang="en-US" dirty="0">
                <a:latin typeface="Times New Roman" panose="02020603050405020304" pitchFamily="18" charset="0"/>
                <a:cs typeface="Times New Roman" panose="02020603050405020304" pitchFamily="18" charset="0"/>
              </a:rPr>
              <a:t>– Gather satellite images, drone imagery, and camera trap photos from various sources, including remote sensing satellites and field surveys.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Preprocessing</a:t>
            </a:r>
            <a:r>
              <a:rPr lang="en-US" dirty="0">
                <a:latin typeface="Times New Roman" panose="02020603050405020304" pitchFamily="18" charset="0"/>
                <a:cs typeface="Times New Roman" panose="02020603050405020304" pitchFamily="18" charset="0"/>
              </a:rPr>
              <a:t> – Enhance image quality by applying noise reduction, contrast adjustments, and image segmentation to improve feature extraction.</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Model Development </a:t>
            </a:r>
            <a:r>
              <a:rPr lang="en-US" dirty="0">
                <a:latin typeface="Times New Roman" panose="02020603050405020304" pitchFamily="18" charset="0"/>
                <a:cs typeface="Times New Roman" panose="02020603050405020304" pitchFamily="18" charset="0"/>
              </a:rPr>
              <a:t>– Train deep learning models for tree counting, species identification, canopy segmentation, deforestation detection.</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Feature Extraction &amp; Classification </a:t>
            </a:r>
            <a:r>
              <a:rPr lang="en-US" dirty="0">
                <a:latin typeface="Times New Roman" panose="02020603050405020304" pitchFamily="18" charset="0"/>
                <a:cs typeface="Times New Roman" panose="02020603050405020304" pitchFamily="18" charset="0"/>
              </a:rPr>
              <a:t>– Use advanced image processing techniques such as CNNs, U-Net, VGG16 analysis, and object detection algorithms to analyze and categorize forest elements.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t>
            </a:r>
            <a:r>
              <a:rPr lang="en-US" b="1" dirty="0">
                <a:latin typeface="Times New Roman" panose="02020603050405020304" pitchFamily="18" charset="0"/>
                <a:cs typeface="Times New Roman" panose="02020603050405020304" pitchFamily="18" charset="0"/>
              </a:rPr>
              <a:t>Testing &amp; Validation </a:t>
            </a:r>
            <a:r>
              <a:rPr lang="en-US" dirty="0">
                <a:latin typeface="Times New Roman" panose="02020603050405020304" pitchFamily="18" charset="0"/>
                <a:cs typeface="Times New Roman" panose="02020603050405020304" pitchFamily="18" charset="0"/>
              </a:rPr>
              <a:t>– Evaluate model accuracy by comparing AI-generated results with ground-truth data and existing forest records.​</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Implementation &amp; Analysis </a:t>
            </a:r>
            <a:r>
              <a:rPr lang="en-US" dirty="0">
                <a:latin typeface="Times New Roman" panose="02020603050405020304" pitchFamily="18" charset="0"/>
                <a:cs typeface="Times New Roman" panose="02020603050405020304" pitchFamily="18" charset="0"/>
              </a:rPr>
              <a:t>– Apply the trained models to new datasets to study forest composition, detect deforestation patterns, and classify wildlife.</a:t>
            </a:r>
          </a:p>
        </p:txBody>
      </p:sp>
    </p:spTree>
    <p:extLst>
      <p:ext uri="{BB962C8B-B14F-4D97-AF65-F5344CB8AC3E}">
        <p14:creationId xmlns:p14="http://schemas.microsoft.com/office/powerpoint/2010/main" val="3781891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3D6F62-16C6-0F37-3C0F-E2E62AC42F18}"/>
              </a:ext>
            </a:extLst>
          </p:cNvPr>
          <p:cNvSpPr>
            <a:spLocks noGrp="1"/>
          </p:cNvSpPr>
          <p:nvPr>
            <p:ph type="sldNum" sz="quarter" idx="12"/>
          </p:nvPr>
        </p:nvSpPr>
        <p:spPr/>
        <p:txBody>
          <a:bodyPr/>
          <a:lstStyle/>
          <a:p>
            <a:fld id="{1EC248AB-E565-412B-9D95-9B07D6A4F3F3}" type="slidenum">
              <a:rPr lang="en-GB" smtClean="0"/>
              <a:pPr/>
              <a:t>10</a:t>
            </a:fld>
            <a:endParaRPr lang="en-GB"/>
          </a:p>
        </p:txBody>
      </p:sp>
      <p:pic>
        <p:nvPicPr>
          <p:cNvPr id="3" name="Picture 2">
            <a:extLst>
              <a:ext uri="{FF2B5EF4-FFF2-40B4-BE49-F238E27FC236}">
                <a16:creationId xmlns:a16="http://schemas.microsoft.com/office/drawing/2014/main" id="{9FB598C2-87E3-5500-003D-528D1D67BC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7">
            <a:extLst>
              <a:ext uri="{FF2B5EF4-FFF2-40B4-BE49-F238E27FC236}">
                <a16:creationId xmlns:a16="http://schemas.microsoft.com/office/drawing/2014/main" id="{146BAF65-8A17-C463-E4CA-DB431600EAE7}"/>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 Project Presentation</a:t>
            </a:r>
            <a:endParaRPr lang="en-IN" sz="1600" b="1" dirty="0">
              <a:latin typeface="Arial Narrow" panose="020B0606020202030204" pitchFamily="34" charset="0"/>
            </a:endParaRPr>
          </a:p>
        </p:txBody>
      </p:sp>
      <p:pic>
        <p:nvPicPr>
          <p:cNvPr id="5" name="Picture 6">
            <a:extLst>
              <a:ext uri="{FF2B5EF4-FFF2-40B4-BE49-F238E27FC236}">
                <a16:creationId xmlns:a16="http://schemas.microsoft.com/office/drawing/2014/main" id="{399EE0C4-5DD8-1569-A77E-AD3E4688A11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6" name="Picture 3" descr="C:\Users\admin\Desktop\download.png">
            <a:extLst>
              <a:ext uri="{FF2B5EF4-FFF2-40B4-BE49-F238E27FC236}">
                <a16:creationId xmlns:a16="http://schemas.microsoft.com/office/drawing/2014/main" id="{318C2636-98FD-9C10-7AC3-B2604304A0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6916770-53FD-66BB-DF3D-2A747EF3CA86}"/>
              </a:ext>
            </a:extLst>
          </p:cNvPr>
          <p:cNvSpPr txBox="1"/>
          <p:nvPr/>
        </p:nvSpPr>
        <p:spPr>
          <a:xfrm>
            <a:off x="503548" y="1658500"/>
            <a:ext cx="7848872" cy="461665"/>
          </a:xfrm>
          <a:prstGeom prst="rect">
            <a:avLst/>
          </a:prstGeom>
          <a:noFill/>
        </p:spPr>
        <p:txBody>
          <a:bodyPr wrap="square">
            <a:spAutoFit/>
          </a:bodyPr>
          <a:lstStyle/>
          <a:p>
            <a:pPr algn="ctr"/>
            <a:r>
              <a:rPr lang="en-IN" sz="2400" b="1" dirty="0">
                <a:latin typeface="Times New Roman" panose="02020603050405020304" pitchFamily="18" charset="0"/>
                <a:ea typeface="SimSun-ExtG" panose="02010609060101010101" pitchFamily="49" charset="-122"/>
                <a:cs typeface="Times New Roman" panose="02020603050405020304" pitchFamily="18" charset="0"/>
              </a:rPr>
              <a:t>Algorithm</a:t>
            </a:r>
          </a:p>
        </p:txBody>
      </p:sp>
      <p:sp>
        <p:nvSpPr>
          <p:cNvPr id="12" name="TextBox 11">
            <a:extLst>
              <a:ext uri="{FF2B5EF4-FFF2-40B4-BE49-F238E27FC236}">
                <a16:creationId xmlns:a16="http://schemas.microsoft.com/office/drawing/2014/main" id="{5FE0C8CC-84FD-D4B2-2E8A-A20EAB9BAFA6}"/>
              </a:ext>
            </a:extLst>
          </p:cNvPr>
          <p:cNvSpPr txBox="1"/>
          <p:nvPr/>
        </p:nvSpPr>
        <p:spPr>
          <a:xfrm>
            <a:off x="611560" y="2399402"/>
            <a:ext cx="7632848" cy="2862322"/>
          </a:xfrm>
          <a:prstGeom prst="rect">
            <a:avLst/>
          </a:prstGeom>
          <a:noFill/>
        </p:spPr>
        <p:txBody>
          <a:bodyPr wrap="square">
            <a:spAutoFit/>
          </a:bodyPr>
          <a:lstStyle/>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 Machine Learning (ML)</a:t>
            </a:r>
            <a:r>
              <a:rPr lang="en-US" dirty="0">
                <a:latin typeface="Times New Roman" panose="02020603050405020304" pitchFamily="18" charset="0"/>
                <a:cs typeface="Times New Roman" panose="02020603050405020304" pitchFamily="18" charset="0"/>
              </a:rPr>
              <a:t> is a subfield of artificial intelligence (AI) that enables      computers to learn from data and make decisions or predictions without being explicitly </a:t>
            </a:r>
            <a:r>
              <a:rPr lang="en-US" dirty="0" err="1">
                <a:latin typeface="Times New Roman" panose="02020603050405020304" pitchFamily="18" charset="0"/>
                <a:cs typeface="Times New Roman" panose="02020603050405020304" pitchFamily="18" charset="0"/>
              </a:rPr>
              <a:t>programmed.In</a:t>
            </a:r>
            <a:r>
              <a:rPr lang="en-US" dirty="0">
                <a:latin typeface="Times New Roman" panose="02020603050405020304" pitchFamily="18" charset="0"/>
                <a:cs typeface="Times New Roman" panose="02020603050405020304" pitchFamily="18" charset="0"/>
              </a:rPr>
              <a:t> simple terms, it allows machines to improve their performance on a task by automatically finding patterns in data and using those patterns to make accurate predictions or classifications</a:t>
            </a:r>
            <a:r>
              <a:rPr lang="en-US" dirty="0"/>
              <a:t>.</a:t>
            </a:r>
          </a:p>
          <a:p>
            <a:endParaRPr lang="en-US" dirty="0"/>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Deep-learning: </a:t>
            </a:r>
            <a:r>
              <a:rPr lang="en-US" dirty="0">
                <a:latin typeface="Times New Roman" panose="02020603050405020304" pitchFamily="18" charset="0"/>
                <a:cs typeface="Times New Roman" panose="02020603050405020304" pitchFamily="18" charset="0"/>
              </a:rPr>
              <a:t>Deep Learning is a subset of machine learning that uses artificial neural networks to process and analyze data. It mimics the way the human brain works, allowing computers to learn patterns and make decisions with minimal human intervention</a:t>
            </a:r>
          </a:p>
        </p:txBody>
      </p:sp>
    </p:spTree>
    <p:extLst>
      <p:ext uri="{BB962C8B-B14F-4D97-AF65-F5344CB8AC3E}">
        <p14:creationId xmlns:p14="http://schemas.microsoft.com/office/powerpoint/2010/main" val="23494130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1CB7C-B14F-C3EF-3A49-DBBD8F66DC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E15E71-293E-A822-3D70-67BD72C79AB0}"/>
              </a:ext>
            </a:extLst>
          </p:cNvPr>
          <p:cNvSpPr>
            <a:spLocks noGrp="1"/>
          </p:cNvSpPr>
          <p:nvPr>
            <p:ph type="sldNum" sz="quarter" idx="12"/>
          </p:nvPr>
        </p:nvSpPr>
        <p:spPr/>
        <p:txBody>
          <a:bodyPr/>
          <a:lstStyle/>
          <a:p>
            <a:fld id="{1EC248AB-E565-412B-9D95-9B07D6A4F3F3}" type="slidenum">
              <a:rPr lang="en-GB" smtClean="0"/>
              <a:pPr/>
              <a:t>11</a:t>
            </a:fld>
            <a:endParaRPr lang="en-GB"/>
          </a:p>
        </p:txBody>
      </p:sp>
      <p:pic>
        <p:nvPicPr>
          <p:cNvPr id="3" name="Picture 2">
            <a:extLst>
              <a:ext uri="{FF2B5EF4-FFF2-40B4-BE49-F238E27FC236}">
                <a16:creationId xmlns:a16="http://schemas.microsoft.com/office/drawing/2014/main" id="{D46B1A87-E19D-3A68-D3E2-4F5B17054E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6300" y="141917"/>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7">
            <a:extLst>
              <a:ext uri="{FF2B5EF4-FFF2-40B4-BE49-F238E27FC236}">
                <a16:creationId xmlns:a16="http://schemas.microsoft.com/office/drawing/2014/main" id="{B4F49A63-B9FF-3D07-8014-05F152ECB921}"/>
              </a:ext>
            </a:extLst>
          </p:cNvPr>
          <p:cNvSpPr txBox="1">
            <a:spLocks noChangeArrowheads="1"/>
          </p:cNvSpPr>
          <p:nvPr/>
        </p:nvSpPr>
        <p:spPr bwMode="auto">
          <a:xfrm>
            <a:off x="36511" y="1267943"/>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 Project Presentation</a:t>
            </a:r>
            <a:endParaRPr lang="en-IN" sz="1600" b="1" dirty="0">
              <a:latin typeface="Arial Narrow" panose="020B0606020202030204" pitchFamily="34" charset="0"/>
            </a:endParaRPr>
          </a:p>
        </p:txBody>
      </p:sp>
      <p:pic>
        <p:nvPicPr>
          <p:cNvPr id="5" name="Picture 6">
            <a:extLst>
              <a:ext uri="{FF2B5EF4-FFF2-40B4-BE49-F238E27FC236}">
                <a16:creationId xmlns:a16="http://schemas.microsoft.com/office/drawing/2014/main" id="{FB225F33-F850-8B93-EB59-C69E287FAC1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6" name="Picture 3" descr="C:\Users\admin\Desktop\download.png">
            <a:extLst>
              <a:ext uri="{FF2B5EF4-FFF2-40B4-BE49-F238E27FC236}">
                <a16:creationId xmlns:a16="http://schemas.microsoft.com/office/drawing/2014/main" id="{8A748904-F981-0ADC-1277-A1955050C8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0DB91B93-0D8C-8908-9F7E-2AF5AFFFADBA}"/>
              </a:ext>
            </a:extLst>
          </p:cNvPr>
          <p:cNvSpPr txBox="1"/>
          <p:nvPr/>
        </p:nvSpPr>
        <p:spPr>
          <a:xfrm>
            <a:off x="503548" y="1658500"/>
            <a:ext cx="7848872" cy="461665"/>
          </a:xfrm>
          <a:prstGeom prst="rect">
            <a:avLst/>
          </a:prstGeom>
          <a:noFill/>
        </p:spPr>
        <p:txBody>
          <a:bodyPr wrap="square">
            <a:spAutoFit/>
          </a:bodyPr>
          <a:lstStyle/>
          <a:p>
            <a:pPr algn="ctr"/>
            <a:r>
              <a:rPr lang="en-IN" sz="2400" b="1" dirty="0">
                <a:latin typeface="Times New Roman" panose="02020603050405020304" pitchFamily="18" charset="0"/>
                <a:ea typeface="SimSun-ExtG" panose="02010609060101010101" pitchFamily="49" charset="-122"/>
                <a:cs typeface="Times New Roman" panose="02020603050405020304" pitchFamily="18" charset="0"/>
              </a:rPr>
              <a:t>Technique used</a:t>
            </a:r>
          </a:p>
        </p:txBody>
      </p:sp>
      <p:sp>
        <p:nvSpPr>
          <p:cNvPr id="12" name="TextBox 11">
            <a:extLst>
              <a:ext uri="{FF2B5EF4-FFF2-40B4-BE49-F238E27FC236}">
                <a16:creationId xmlns:a16="http://schemas.microsoft.com/office/drawing/2014/main" id="{8EC9A172-393F-1467-6826-0D69216B3AEE}"/>
              </a:ext>
            </a:extLst>
          </p:cNvPr>
          <p:cNvSpPr txBox="1"/>
          <p:nvPr/>
        </p:nvSpPr>
        <p:spPr>
          <a:xfrm>
            <a:off x="1602915" y="2399401"/>
            <a:ext cx="5308394"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
        <p:nvSpPr>
          <p:cNvPr id="11" name="Rectangle 4">
            <a:extLst>
              <a:ext uri="{FF2B5EF4-FFF2-40B4-BE49-F238E27FC236}">
                <a16:creationId xmlns:a16="http://schemas.microsoft.com/office/drawing/2014/main" id="{F4A51CEB-2311-1C24-DCB7-860E668281E1}"/>
              </a:ext>
            </a:extLst>
          </p:cNvPr>
          <p:cNvSpPr>
            <a:spLocks noChangeArrowheads="1"/>
          </p:cNvSpPr>
          <p:nvPr/>
        </p:nvSpPr>
        <p:spPr bwMode="auto">
          <a:xfrm>
            <a:off x="627737" y="2532793"/>
            <a:ext cx="796154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VGG16: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VGG16</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a deep learning model used for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image classification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It has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16 layers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uses small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3x3 filters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extract features like edges and shapes from images. Developed by the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Visual Geometry Group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Oxford, it is simple and effective for recognizing objects. In forest projects, VGG16 can help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tree species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from aerial images.</a:t>
            </a:r>
          </a:p>
          <a:p>
            <a:pPr marR="0" lvl="0" algn="l" defTabSz="914400" rtl="0" eaLnBrk="0" fontAlgn="base" latinLnBrk="0" hangingPunct="0">
              <a:lnSpc>
                <a:spcPct val="100000"/>
              </a:lnSpc>
              <a:spcBef>
                <a:spcPct val="0"/>
              </a:spcBef>
              <a:spcAft>
                <a:spcPct val="0"/>
              </a:spcAft>
              <a:buClrTx/>
              <a:buSzTx/>
              <a:tabLst/>
            </a:pPr>
            <a:r>
              <a:rPr lang="en-US" altLang="en-US" b="1" dirty="0">
                <a:latin typeface="Arial" panose="020B0604020202020204" pitchFamily="34" charset="0"/>
              </a:rPr>
              <a:t> </a:t>
            </a:r>
            <a:endParaRPr kumimoji="0" lang="en-US" altLang="en-US" sz="1800" b="1" i="0" u="none" strike="noStrike" cap="none" normalizeH="0" baseline="0" dirty="0">
              <a:ln>
                <a:noFill/>
              </a:ln>
              <a:solidFill>
                <a:schemeClr val="tx1"/>
              </a:solidFill>
              <a:effectLst/>
              <a:latin typeface="Arial" panose="020B0604020202020204" pitchFamily="34" charset="0"/>
            </a:endParaRPr>
          </a:p>
        </p:txBody>
      </p:sp>
      <p:sp>
        <p:nvSpPr>
          <p:cNvPr id="15" name="Rectangle 7">
            <a:extLst>
              <a:ext uri="{FF2B5EF4-FFF2-40B4-BE49-F238E27FC236}">
                <a16:creationId xmlns:a16="http://schemas.microsoft.com/office/drawing/2014/main" id="{F0EFF180-2B03-17A6-F48B-F564C1E16E5E}"/>
              </a:ext>
            </a:extLst>
          </p:cNvPr>
          <p:cNvSpPr>
            <a:spLocks noChangeArrowheads="1"/>
          </p:cNvSpPr>
          <p:nvPr/>
        </p:nvSpPr>
        <p:spPr bwMode="auto">
          <a:xfrm>
            <a:off x="627737" y="4327936"/>
            <a:ext cx="784887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U-net: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UNet</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 a deep learning model used for image segmentation, where it classifies each pixel in an image. It has a U-shaped architecture with an encoder-decoder structure and skip connections to retain detailed information. </a:t>
            </a:r>
            <a:r>
              <a:rPr kumimoji="0" lang="en-US" altLang="en-US" sz="180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UNet</a:t>
            </a:r>
            <a:r>
              <a:rPr kumimoji="0" lang="en-US" altLang="en-US" sz="18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commonly used for tasks like segmenting tree canopies or deforestation detection in satellite images.</a:t>
            </a:r>
          </a:p>
        </p:txBody>
      </p:sp>
    </p:spTree>
    <p:extLst>
      <p:ext uri="{BB962C8B-B14F-4D97-AF65-F5344CB8AC3E}">
        <p14:creationId xmlns:p14="http://schemas.microsoft.com/office/powerpoint/2010/main" val="31852912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4EAF5-DA3E-1BE3-826C-AD0D58DDE9A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73B12F2-AE4A-6499-6797-EEE48A001E62}"/>
              </a:ext>
            </a:extLst>
          </p:cNvPr>
          <p:cNvSpPr>
            <a:spLocks noGrp="1"/>
          </p:cNvSpPr>
          <p:nvPr>
            <p:ph type="sldNum" sz="quarter" idx="12"/>
          </p:nvPr>
        </p:nvSpPr>
        <p:spPr/>
        <p:txBody>
          <a:bodyPr/>
          <a:lstStyle/>
          <a:p>
            <a:fld id="{1EC248AB-E565-412B-9D95-9B07D6A4F3F3}" type="slidenum">
              <a:rPr lang="en-GB" smtClean="0"/>
              <a:pPr/>
              <a:t>12</a:t>
            </a:fld>
            <a:endParaRPr lang="en-GB" dirty="0"/>
          </a:p>
        </p:txBody>
      </p:sp>
      <p:pic>
        <p:nvPicPr>
          <p:cNvPr id="3" name="Picture 6">
            <a:extLst>
              <a:ext uri="{FF2B5EF4-FFF2-40B4-BE49-F238E27FC236}">
                <a16:creationId xmlns:a16="http://schemas.microsoft.com/office/drawing/2014/main" id="{C95C3A84-31F2-8F18-87FE-E8388D78F9F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4" name="Picture 3" descr="C:\Users\admin\Desktop\download.png">
            <a:extLst>
              <a:ext uri="{FF2B5EF4-FFF2-40B4-BE49-F238E27FC236}">
                <a16:creationId xmlns:a16="http://schemas.microsoft.com/office/drawing/2014/main" id="{CBB84CD6-3C20-056C-BF8E-84475D3674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984C780-F467-B7EE-1DDD-7B8F4788A2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7" y="121211"/>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7">
            <a:extLst>
              <a:ext uri="{FF2B5EF4-FFF2-40B4-BE49-F238E27FC236}">
                <a16:creationId xmlns:a16="http://schemas.microsoft.com/office/drawing/2014/main" id="{EE4FD723-D9DF-27E7-3D40-49E427FCDE39}"/>
              </a:ext>
            </a:extLst>
          </p:cNvPr>
          <p:cNvSpPr txBox="1">
            <a:spLocks noChangeArrowheads="1"/>
          </p:cNvSpPr>
          <p:nvPr/>
        </p:nvSpPr>
        <p:spPr bwMode="auto">
          <a:xfrm>
            <a:off x="0" y="1202288"/>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10" name="TextBox 9">
            <a:extLst>
              <a:ext uri="{FF2B5EF4-FFF2-40B4-BE49-F238E27FC236}">
                <a16:creationId xmlns:a16="http://schemas.microsoft.com/office/drawing/2014/main" id="{0E8D5B0A-A489-B4F5-3FD6-6A7435B7CA0C}"/>
              </a:ext>
            </a:extLst>
          </p:cNvPr>
          <p:cNvSpPr txBox="1"/>
          <p:nvPr/>
        </p:nvSpPr>
        <p:spPr>
          <a:xfrm>
            <a:off x="457200" y="5905664"/>
            <a:ext cx="7427168"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Tree counting</a:t>
            </a:r>
          </a:p>
        </p:txBody>
      </p:sp>
      <p:sp>
        <p:nvSpPr>
          <p:cNvPr id="9" name="TextBox 8">
            <a:extLst>
              <a:ext uri="{FF2B5EF4-FFF2-40B4-BE49-F238E27FC236}">
                <a16:creationId xmlns:a16="http://schemas.microsoft.com/office/drawing/2014/main" id="{E35656A0-A440-B991-7CED-56BE9D69C579}"/>
              </a:ext>
            </a:extLst>
          </p:cNvPr>
          <p:cNvSpPr txBox="1"/>
          <p:nvPr/>
        </p:nvSpPr>
        <p:spPr>
          <a:xfrm>
            <a:off x="2285999" y="1532815"/>
            <a:ext cx="4572000"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Experiment Result</a:t>
            </a:r>
            <a:endParaRPr lang="en-IN" sz="2400" b="1" dirty="0"/>
          </a:p>
        </p:txBody>
      </p:sp>
      <p:pic>
        <p:nvPicPr>
          <p:cNvPr id="8" name="Picture 7">
            <a:extLst>
              <a:ext uri="{FF2B5EF4-FFF2-40B4-BE49-F238E27FC236}">
                <a16:creationId xmlns:a16="http://schemas.microsoft.com/office/drawing/2014/main" id="{4F4E158A-9F03-4FC3-8E11-D035639870D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056" y="2391325"/>
            <a:ext cx="7884368" cy="3176113"/>
          </a:xfrm>
          <a:prstGeom prst="rect">
            <a:avLst/>
          </a:prstGeom>
        </p:spPr>
      </p:pic>
    </p:spTree>
    <p:extLst>
      <p:ext uri="{BB962C8B-B14F-4D97-AF65-F5344CB8AC3E}">
        <p14:creationId xmlns:p14="http://schemas.microsoft.com/office/powerpoint/2010/main" val="42564779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Rectangle 5"/>
          <p:cNvSpPr>
            <a:spLocks noGrp="1" noChangeArrowheads="1"/>
          </p:cNvSpPr>
          <p:nvPr>
            <p:ph type="ctrTitle"/>
          </p:nvPr>
        </p:nvSpPr>
        <p:spPr>
          <a:xfrm>
            <a:off x="1043608" y="160813"/>
            <a:ext cx="6984776" cy="1035939"/>
          </a:xfrm>
          <a:solidFill>
            <a:schemeClr val="bg1"/>
          </a:solidFill>
          <a:effectLst>
            <a:outerShdw dist="35921" dir="2700000" algn="ctr" rotWithShape="0">
              <a:schemeClr val="accent1">
                <a:alpha val="50000"/>
              </a:schemeClr>
            </a:outerShdw>
          </a:effectLst>
        </p:spPr>
        <p:txBody>
          <a:bodyPr>
            <a:noAutofit/>
          </a:bodyPr>
          <a:lstStyle/>
          <a:p>
            <a:r>
              <a:rPr lang="en-US" sz="1600" dirty="0"/>
              <a:t>Nutan Maharashtra </a:t>
            </a:r>
            <a:r>
              <a:rPr lang="en-US" sz="1600" dirty="0" err="1"/>
              <a:t>Vidya</a:t>
            </a:r>
            <a:r>
              <a:rPr lang="en-US" sz="1600" dirty="0"/>
              <a:t> </a:t>
            </a:r>
            <a:r>
              <a:rPr lang="en-US" sz="1600" dirty="0" err="1"/>
              <a:t>Prasarak</a:t>
            </a:r>
            <a:r>
              <a:rPr lang="en-US" sz="1600" dirty="0"/>
              <a:t> </a:t>
            </a:r>
            <a:r>
              <a:rPr lang="en-US" sz="1600" dirty="0" err="1"/>
              <a:t>Mandal’s</a:t>
            </a:r>
            <a:r>
              <a:rPr lang="en-US" sz="1600" dirty="0"/>
              <a:t> </a:t>
            </a:r>
            <a:br>
              <a:rPr lang="en-US" sz="1600" dirty="0"/>
            </a:br>
            <a:r>
              <a:rPr lang="en-US" sz="1800" dirty="0"/>
              <a:t> </a:t>
            </a:r>
            <a:r>
              <a:rPr lang="en-US" sz="1800" b="1" dirty="0"/>
              <a:t>NUTAN COLLEGE OF ENGINEERING AND RESEARCH </a:t>
            </a:r>
            <a:br>
              <a:rPr lang="en-US" sz="1800" dirty="0"/>
            </a:br>
            <a:r>
              <a:rPr lang="en-US" sz="1600" dirty="0"/>
              <a:t>Under Administrative Support of </a:t>
            </a:r>
            <a:r>
              <a:rPr lang="en-US" sz="1600" dirty="0" err="1"/>
              <a:t>Pimpri</a:t>
            </a:r>
            <a:r>
              <a:rPr lang="en-US" sz="1600" dirty="0"/>
              <a:t> </a:t>
            </a:r>
            <a:r>
              <a:rPr lang="en-US" sz="1600" dirty="0" err="1"/>
              <a:t>Chinchwad</a:t>
            </a:r>
            <a:r>
              <a:rPr lang="en-US" sz="1600" dirty="0"/>
              <a:t>  Education Trust </a:t>
            </a:r>
            <a:br>
              <a:rPr lang="en-US" sz="1600" dirty="0"/>
            </a:br>
            <a:r>
              <a:rPr lang="en-US" sz="1600" dirty="0"/>
              <a:t>ISO 21001:2018 EOMS Certified </a:t>
            </a:r>
            <a:r>
              <a:rPr lang="en-US" sz="1200" dirty="0"/>
              <a:t>	</a:t>
            </a:r>
            <a:br>
              <a:rPr lang="en-US" sz="1200" dirty="0"/>
            </a:br>
            <a:endParaRPr lang="en-US" sz="1400" dirty="0"/>
          </a:p>
        </p:txBody>
      </p:sp>
      <p:pic>
        <p:nvPicPr>
          <p:cNvPr id="209715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sp>
        <p:nvSpPr>
          <p:cNvPr id="1048601" name="TextBox 7"/>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2" name="Slide Number Placeholder 1"/>
          <p:cNvSpPr>
            <a:spLocks noGrp="1"/>
          </p:cNvSpPr>
          <p:nvPr>
            <p:ph type="sldNum" sz="quarter" idx="12"/>
          </p:nvPr>
        </p:nvSpPr>
        <p:spPr/>
        <p:txBody>
          <a:bodyPr/>
          <a:lstStyle/>
          <a:p>
            <a:fld id="{1EC248AB-E565-412B-9D95-9B07D6A4F3F3}" type="slidenum">
              <a:rPr lang="en-GB" b="1" smtClean="0">
                <a:solidFill>
                  <a:schemeClr val="tx1"/>
                </a:solidFill>
              </a:rPr>
              <a:pPr/>
              <a:t>13</a:t>
            </a:fld>
            <a:endParaRPr lang="en-GB" b="1" dirty="0">
              <a:solidFill>
                <a:schemeClr val="tx1"/>
              </a:solidFill>
            </a:endParaRPr>
          </a:p>
        </p:txBody>
      </p:sp>
      <p:pic>
        <p:nvPicPr>
          <p:cNvPr id="1027" name="Picture 3" descr="C:\Users\admin\Desktop\downloa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2">
            <a:extLst>
              <a:ext uri="{FF2B5EF4-FFF2-40B4-BE49-F238E27FC236}">
                <a16:creationId xmlns:a16="http://schemas.microsoft.com/office/drawing/2014/main" id="{20C6EFF6-B71F-B126-7BB2-3D23106EB97C}"/>
              </a:ext>
            </a:extLst>
          </p:cNvPr>
          <p:cNvSpPr>
            <a:spLocks noChangeArrowheads="1"/>
          </p:cNvSpPr>
          <p:nvPr/>
        </p:nvSpPr>
        <p:spPr bwMode="auto">
          <a:xfrm>
            <a:off x="756084" y="3208904"/>
            <a:ext cx="828092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50DA6ED3-73EB-A89C-B92F-8AA3125AE74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7544" y="2060848"/>
            <a:ext cx="4104456" cy="3531300"/>
          </a:xfrm>
          <a:prstGeom prst="rect">
            <a:avLst/>
          </a:prstGeom>
        </p:spPr>
      </p:pic>
      <p:pic>
        <p:nvPicPr>
          <p:cNvPr id="8" name="Picture 7">
            <a:extLst>
              <a:ext uri="{FF2B5EF4-FFF2-40B4-BE49-F238E27FC236}">
                <a16:creationId xmlns:a16="http://schemas.microsoft.com/office/drawing/2014/main" id="{2C6545A6-9CF4-8631-C03B-1CCF55C8D6A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60540" y="2060848"/>
            <a:ext cx="3815916" cy="3321943"/>
          </a:xfrm>
          <a:prstGeom prst="rect">
            <a:avLst/>
          </a:prstGeom>
        </p:spPr>
      </p:pic>
      <p:sp>
        <p:nvSpPr>
          <p:cNvPr id="10" name="TextBox 9">
            <a:extLst>
              <a:ext uri="{FF2B5EF4-FFF2-40B4-BE49-F238E27FC236}">
                <a16:creationId xmlns:a16="http://schemas.microsoft.com/office/drawing/2014/main" id="{835DB6C1-BFAE-91CB-70CE-C80C414764D9}"/>
              </a:ext>
            </a:extLst>
          </p:cNvPr>
          <p:cNvSpPr txBox="1"/>
          <p:nvPr/>
        </p:nvSpPr>
        <p:spPr>
          <a:xfrm>
            <a:off x="2239836" y="5894261"/>
            <a:ext cx="4592320" cy="369332"/>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Tree Species</a:t>
            </a:r>
          </a:p>
        </p:txBody>
      </p:sp>
    </p:spTree>
    <p:extLst>
      <p:ext uri="{BB962C8B-B14F-4D97-AF65-F5344CB8AC3E}">
        <p14:creationId xmlns:p14="http://schemas.microsoft.com/office/powerpoint/2010/main" val="20453668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513DB-53D6-D415-1C52-A29280E7DD6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6E6553-9172-320B-9D38-9EE6DE1A1D99}"/>
              </a:ext>
            </a:extLst>
          </p:cNvPr>
          <p:cNvSpPr>
            <a:spLocks noGrp="1"/>
          </p:cNvSpPr>
          <p:nvPr>
            <p:ph type="sldNum" sz="quarter" idx="12"/>
          </p:nvPr>
        </p:nvSpPr>
        <p:spPr/>
        <p:txBody>
          <a:bodyPr/>
          <a:lstStyle/>
          <a:p>
            <a:fld id="{1EC248AB-E565-412B-9D95-9B07D6A4F3F3}" type="slidenum">
              <a:rPr lang="en-GB" smtClean="0"/>
              <a:pPr/>
              <a:t>14</a:t>
            </a:fld>
            <a:endParaRPr lang="en-GB"/>
          </a:p>
        </p:txBody>
      </p:sp>
      <p:sp>
        <p:nvSpPr>
          <p:cNvPr id="3" name="TextBox 7">
            <a:extLst>
              <a:ext uri="{FF2B5EF4-FFF2-40B4-BE49-F238E27FC236}">
                <a16:creationId xmlns:a16="http://schemas.microsoft.com/office/drawing/2014/main" id="{E4DF52B0-FA2B-EBFD-11EC-E2F615630C42}"/>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 </a:t>
            </a:r>
            <a:endParaRPr lang="en-IN" sz="1600" b="1" dirty="0">
              <a:latin typeface="Arial Narrow" panose="020B0606020202030204" pitchFamily="34" charset="0"/>
            </a:endParaRPr>
          </a:p>
        </p:txBody>
      </p:sp>
      <p:pic>
        <p:nvPicPr>
          <p:cNvPr id="6" name="Picture 2">
            <a:extLst>
              <a:ext uri="{FF2B5EF4-FFF2-40B4-BE49-F238E27FC236}">
                <a16:creationId xmlns:a16="http://schemas.microsoft.com/office/drawing/2014/main" id="{B39BD83B-46C0-D006-042B-3B4F4A8E48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354EF176-A9AA-D703-8F56-48FF6928A6A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8" name="Picture 3" descr="C:\Users\admin\Desktop\download.png">
            <a:extLst>
              <a:ext uri="{FF2B5EF4-FFF2-40B4-BE49-F238E27FC236}">
                <a16:creationId xmlns:a16="http://schemas.microsoft.com/office/drawing/2014/main" id="{80225926-C9B3-D35E-190E-1652D33BABE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DBF4DC4-E1AA-92EE-0B3F-EA38A5494F2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7544" y="1916832"/>
            <a:ext cx="3672408" cy="3600400"/>
          </a:xfrm>
          <a:prstGeom prst="rect">
            <a:avLst/>
          </a:prstGeom>
        </p:spPr>
      </p:pic>
      <p:pic>
        <p:nvPicPr>
          <p:cNvPr id="10" name="Picture 9">
            <a:extLst>
              <a:ext uri="{FF2B5EF4-FFF2-40B4-BE49-F238E27FC236}">
                <a16:creationId xmlns:a16="http://schemas.microsoft.com/office/drawing/2014/main" id="{B1A1C8F4-A18D-2740-578B-7B03C78ABB0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72000" y="2005361"/>
            <a:ext cx="4572000" cy="3396587"/>
          </a:xfrm>
          <a:prstGeom prst="rect">
            <a:avLst/>
          </a:prstGeom>
        </p:spPr>
      </p:pic>
      <p:sp>
        <p:nvSpPr>
          <p:cNvPr id="13" name="TextBox 12">
            <a:extLst>
              <a:ext uri="{FF2B5EF4-FFF2-40B4-BE49-F238E27FC236}">
                <a16:creationId xmlns:a16="http://schemas.microsoft.com/office/drawing/2014/main" id="{F56D088D-A7EC-0575-8344-C924D1CECD03}"/>
              </a:ext>
            </a:extLst>
          </p:cNvPr>
          <p:cNvSpPr txBox="1"/>
          <p:nvPr/>
        </p:nvSpPr>
        <p:spPr>
          <a:xfrm>
            <a:off x="3131840" y="4099978"/>
            <a:ext cx="3168352" cy="2031325"/>
          </a:xfrm>
          <a:prstGeom prst="rect">
            <a:avLst/>
          </a:prstGeom>
          <a:noFill/>
        </p:spPr>
        <p:txBody>
          <a:bodyPr wrap="square">
            <a:spAutoFit/>
          </a:bodyPr>
          <a:lstStyle/>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Deforestration</a:t>
            </a:r>
            <a:r>
              <a:rPr lang="en-US" b="1" dirty="0">
                <a:latin typeface="Times New Roman" panose="02020603050405020304" pitchFamily="18" charset="0"/>
                <a:cs typeface="Times New Roman" panose="02020603050405020304" pitchFamily="18" charset="0"/>
              </a:rPr>
              <a:t> Detection </a:t>
            </a:r>
            <a:endParaRPr lang="en-IN" b="1" dirty="0"/>
          </a:p>
        </p:txBody>
      </p:sp>
    </p:spTree>
    <p:extLst>
      <p:ext uri="{BB962C8B-B14F-4D97-AF65-F5344CB8AC3E}">
        <p14:creationId xmlns:p14="http://schemas.microsoft.com/office/powerpoint/2010/main" val="40261753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D9408-2AB1-E49B-8AAD-7ECF0043E2F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FA50F-D7AE-0EFF-D8A9-D47D368B9155}"/>
              </a:ext>
            </a:extLst>
          </p:cNvPr>
          <p:cNvSpPr>
            <a:spLocks noGrp="1"/>
          </p:cNvSpPr>
          <p:nvPr>
            <p:ph type="sldNum" sz="quarter" idx="12"/>
          </p:nvPr>
        </p:nvSpPr>
        <p:spPr/>
        <p:txBody>
          <a:bodyPr/>
          <a:lstStyle/>
          <a:p>
            <a:fld id="{1EC248AB-E565-412B-9D95-9B07D6A4F3F3}" type="slidenum">
              <a:rPr lang="en-GB" smtClean="0"/>
              <a:pPr/>
              <a:t>15</a:t>
            </a:fld>
            <a:endParaRPr lang="en-GB"/>
          </a:p>
        </p:txBody>
      </p:sp>
      <p:sp>
        <p:nvSpPr>
          <p:cNvPr id="3" name="TextBox 7">
            <a:extLst>
              <a:ext uri="{FF2B5EF4-FFF2-40B4-BE49-F238E27FC236}">
                <a16:creationId xmlns:a16="http://schemas.microsoft.com/office/drawing/2014/main" id="{50E1EEC4-AAA5-4814-1DCF-8343EC26AE30}"/>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pic>
        <p:nvPicPr>
          <p:cNvPr id="6" name="Picture 2">
            <a:extLst>
              <a:ext uri="{FF2B5EF4-FFF2-40B4-BE49-F238E27FC236}">
                <a16:creationId xmlns:a16="http://schemas.microsoft.com/office/drawing/2014/main" id="{F00799CA-5875-C2A3-094F-D45C692682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7182268C-67C9-EBEA-A3AB-42A567D9F44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8" name="Picture 3" descr="C:\Users\admin\Desktop\download.png">
            <a:extLst>
              <a:ext uri="{FF2B5EF4-FFF2-40B4-BE49-F238E27FC236}">
                <a16:creationId xmlns:a16="http://schemas.microsoft.com/office/drawing/2014/main" id="{595155A2-52FC-78F5-8D53-12C8449A205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5471237E-232F-6CF9-51DF-6B843D12F079}"/>
              </a:ext>
            </a:extLst>
          </p:cNvPr>
          <p:cNvSpPr txBox="1"/>
          <p:nvPr/>
        </p:nvSpPr>
        <p:spPr>
          <a:xfrm>
            <a:off x="971600" y="5877272"/>
            <a:ext cx="792088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                                           Canopy Segmentation </a:t>
            </a:r>
            <a:endParaRPr lang="en-IN" b="1" dirty="0"/>
          </a:p>
        </p:txBody>
      </p:sp>
      <p:pic>
        <p:nvPicPr>
          <p:cNvPr id="9" name="Picture 8">
            <a:extLst>
              <a:ext uri="{FF2B5EF4-FFF2-40B4-BE49-F238E27FC236}">
                <a16:creationId xmlns:a16="http://schemas.microsoft.com/office/drawing/2014/main" id="{D5D326B2-5DC1-C787-3777-1C201D05B0E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51520" y="1514535"/>
            <a:ext cx="4112745" cy="3498641"/>
          </a:xfrm>
          <a:prstGeom prst="rect">
            <a:avLst/>
          </a:prstGeom>
        </p:spPr>
      </p:pic>
      <p:pic>
        <p:nvPicPr>
          <p:cNvPr id="12" name="Picture 11">
            <a:extLst>
              <a:ext uri="{FF2B5EF4-FFF2-40B4-BE49-F238E27FC236}">
                <a16:creationId xmlns:a16="http://schemas.microsoft.com/office/drawing/2014/main" id="{F2039D1C-D1E7-A784-3305-F919448CA89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932040" y="1514536"/>
            <a:ext cx="3791309" cy="3984024"/>
          </a:xfrm>
          <a:prstGeom prst="rect">
            <a:avLst/>
          </a:prstGeom>
        </p:spPr>
      </p:pic>
    </p:spTree>
    <p:extLst>
      <p:ext uri="{BB962C8B-B14F-4D97-AF65-F5344CB8AC3E}">
        <p14:creationId xmlns:p14="http://schemas.microsoft.com/office/powerpoint/2010/main" val="36568679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44789-75B0-03F6-DF16-9566ACB529E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0213C0-C6E7-160B-05B6-498755800EAF}"/>
              </a:ext>
            </a:extLst>
          </p:cNvPr>
          <p:cNvSpPr>
            <a:spLocks noGrp="1"/>
          </p:cNvSpPr>
          <p:nvPr>
            <p:ph type="sldNum" sz="quarter" idx="12"/>
          </p:nvPr>
        </p:nvSpPr>
        <p:spPr/>
        <p:txBody>
          <a:bodyPr/>
          <a:lstStyle/>
          <a:p>
            <a:fld id="{1EC248AB-E565-412B-9D95-9B07D6A4F3F3}" type="slidenum">
              <a:rPr lang="en-GB" smtClean="0"/>
              <a:pPr/>
              <a:t>16</a:t>
            </a:fld>
            <a:endParaRPr lang="en-GB" dirty="0"/>
          </a:p>
        </p:txBody>
      </p:sp>
      <p:pic>
        <p:nvPicPr>
          <p:cNvPr id="3" name="Picture 6">
            <a:extLst>
              <a:ext uri="{FF2B5EF4-FFF2-40B4-BE49-F238E27FC236}">
                <a16:creationId xmlns:a16="http://schemas.microsoft.com/office/drawing/2014/main" id="{8871A465-E609-CA9A-523B-0EBFD87A73B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4" name="Picture 3" descr="C:\Users\admin\Desktop\download.png">
            <a:extLst>
              <a:ext uri="{FF2B5EF4-FFF2-40B4-BE49-F238E27FC236}">
                <a16:creationId xmlns:a16="http://schemas.microsoft.com/office/drawing/2014/main" id="{AD618849-3253-C184-1CFA-9CEC03F9A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74B979C-03ED-2BE3-40EE-077FCAE854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7" y="121211"/>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7">
            <a:extLst>
              <a:ext uri="{FF2B5EF4-FFF2-40B4-BE49-F238E27FC236}">
                <a16:creationId xmlns:a16="http://schemas.microsoft.com/office/drawing/2014/main" id="{61C4A690-64D1-392F-FBA2-CCEB754B2FB5}"/>
              </a:ext>
            </a:extLst>
          </p:cNvPr>
          <p:cNvSpPr txBox="1">
            <a:spLocks noChangeArrowheads="1"/>
          </p:cNvSpPr>
          <p:nvPr/>
        </p:nvSpPr>
        <p:spPr bwMode="auto">
          <a:xfrm>
            <a:off x="0" y="1202288"/>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9" name="TextBox 8">
            <a:extLst>
              <a:ext uri="{FF2B5EF4-FFF2-40B4-BE49-F238E27FC236}">
                <a16:creationId xmlns:a16="http://schemas.microsoft.com/office/drawing/2014/main" id="{F61938E3-3EF3-0A62-7E4B-263349836A35}"/>
              </a:ext>
            </a:extLst>
          </p:cNvPr>
          <p:cNvSpPr txBox="1"/>
          <p:nvPr/>
        </p:nvSpPr>
        <p:spPr>
          <a:xfrm>
            <a:off x="2195736" y="1945878"/>
            <a:ext cx="4680519"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Conclusion</a:t>
            </a:r>
            <a:endParaRPr lang="en-IN" sz="2400" b="1" dirty="0"/>
          </a:p>
        </p:txBody>
      </p:sp>
      <p:sp>
        <p:nvSpPr>
          <p:cNvPr id="19" name="TextBox 18">
            <a:extLst>
              <a:ext uri="{FF2B5EF4-FFF2-40B4-BE49-F238E27FC236}">
                <a16:creationId xmlns:a16="http://schemas.microsoft.com/office/drawing/2014/main" id="{181CD7AF-7493-606B-CCE2-1EECD8ACC229}"/>
              </a:ext>
            </a:extLst>
          </p:cNvPr>
          <p:cNvSpPr txBox="1"/>
          <p:nvPr/>
        </p:nvSpPr>
        <p:spPr>
          <a:xfrm>
            <a:off x="1115616" y="2996952"/>
            <a:ext cx="7200800" cy="2031325"/>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This project demonstrates how artificial intelligence, when combined with remote sensing, can revolutionize forest monitoring. By integrating key modules tree counting, tree species identification, canopy cover analysis, and deforestation detection into a single system, this solution enables efficient forest management. With ongoing improvements, such a system can become an essential tool for environmental protection, policy-making, and global sustainability efforts.</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182443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64C294-F1F8-6649-C6C1-D63C79BAACE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1382BAF-B8BA-69E3-8713-E3BB5C1D3A03}"/>
              </a:ext>
            </a:extLst>
          </p:cNvPr>
          <p:cNvSpPr>
            <a:spLocks noGrp="1"/>
          </p:cNvSpPr>
          <p:nvPr>
            <p:ph type="sldNum" sz="quarter" idx="12"/>
          </p:nvPr>
        </p:nvSpPr>
        <p:spPr/>
        <p:txBody>
          <a:bodyPr/>
          <a:lstStyle/>
          <a:p>
            <a:fld id="{1EC248AB-E565-412B-9D95-9B07D6A4F3F3}" type="slidenum">
              <a:rPr lang="en-GB" smtClean="0"/>
              <a:pPr/>
              <a:t>17</a:t>
            </a:fld>
            <a:endParaRPr lang="en-GB" dirty="0"/>
          </a:p>
        </p:txBody>
      </p:sp>
      <p:pic>
        <p:nvPicPr>
          <p:cNvPr id="3" name="Picture 6">
            <a:extLst>
              <a:ext uri="{FF2B5EF4-FFF2-40B4-BE49-F238E27FC236}">
                <a16:creationId xmlns:a16="http://schemas.microsoft.com/office/drawing/2014/main" id="{84D87FEB-FE1E-8627-5AE0-724C4BEA51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4" name="Picture 3" descr="C:\Users\admin\Desktop\download.png">
            <a:extLst>
              <a:ext uri="{FF2B5EF4-FFF2-40B4-BE49-F238E27FC236}">
                <a16:creationId xmlns:a16="http://schemas.microsoft.com/office/drawing/2014/main" id="{3D6F0734-9222-41D5-249D-40B2C9034F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D09B9A4-8446-C8DC-AF08-165B996DD0A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7" y="121211"/>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7">
            <a:extLst>
              <a:ext uri="{FF2B5EF4-FFF2-40B4-BE49-F238E27FC236}">
                <a16:creationId xmlns:a16="http://schemas.microsoft.com/office/drawing/2014/main" id="{17279722-37C2-C2B7-CE11-D08875478B32}"/>
              </a:ext>
            </a:extLst>
          </p:cNvPr>
          <p:cNvSpPr txBox="1">
            <a:spLocks noChangeArrowheads="1"/>
          </p:cNvSpPr>
          <p:nvPr/>
        </p:nvSpPr>
        <p:spPr bwMode="auto">
          <a:xfrm>
            <a:off x="0" y="1202288"/>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9" name="TextBox 8">
            <a:extLst>
              <a:ext uri="{FF2B5EF4-FFF2-40B4-BE49-F238E27FC236}">
                <a16:creationId xmlns:a16="http://schemas.microsoft.com/office/drawing/2014/main" id="{A714AE8C-5D58-59DE-DF88-D546B902F8EB}"/>
              </a:ext>
            </a:extLst>
          </p:cNvPr>
          <p:cNvSpPr txBox="1"/>
          <p:nvPr/>
        </p:nvSpPr>
        <p:spPr>
          <a:xfrm>
            <a:off x="2195736" y="1945878"/>
            <a:ext cx="4680519" cy="461665"/>
          </a:xfrm>
          <a:prstGeom prst="rect">
            <a:avLst/>
          </a:prstGeom>
          <a:no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References</a:t>
            </a:r>
            <a:endParaRPr lang="en-IN" sz="2400" b="1" dirty="0"/>
          </a:p>
        </p:txBody>
      </p:sp>
      <p:sp>
        <p:nvSpPr>
          <p:cNvPr id="19" name="TextBox 18">
            <a:extLst>
              <a:ext uri="{FF2B5EF4-FFF2-40B4-BE49-F238E27FC236}">
                <a16:creationId xmlns:a16="http://schemas.microsoft.com/office/drawing/2014/main" id="{D23AE4AC-C775-BFA9-8CBA-4DFB8E6B57D6}"/>
              </a:ext>
            </a:extLst>
          </p:cNvPr>
          <p:cNvSpPr txBox="1"/>
          <p:nvPr/>
        </p:nvSpPr>
        <p:spPr>
          <a:xfrm>
            <a:off x="683568" y="2391326"/>
            <a:ext cx="7632848" cy="4247317"/>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[1] Maricel </a:t>
            </a:r>
            <a:r>
              <a:rPr lang="en-US" dirty="0" err="1">
                <a:latin typeface="Times New Roman" panose="02020603050405020304" pitchFamily="18" charset="0"/>
                <a:cs typeface="Times New Roman" panose="02020603050405020304" pitchFamily="18" charset="0"/>
              </a:rPr>
              <a:t>Móstiga</a:t>
            </a:r>
            <a:r>
              <a:rPr lang="en-US" dirty="0">
                <a:latin typeface="Times New Roman" panose="02020603050405020304" pitchFamily="18" charset="0"/>
                <a:cs typeface="Times New Roman" panose="02020603050405020304" pitchFamily="18" charset="0"/>
              </a:rPr>
              <a:t>, Dolors </a:t>
            </a:r>
            <a:r>
              <a:rPr lang="en-US" dirty="0" err="1">
                <a:latin typeface="Times New Roman" panose="02020603050405020304" pitchFamily="18" charset="0"/>
                <a:cs typeface="Times New Roman" panose="02020603050405020304" pitchFamily="18" charset="0"/>
              </a:rPr>
              <a:t>Armenteras</a:t>
            </a:r>
            <a:r>
              <a:rPr lang="en-US" dirty="0">
                <a:latin typeface="Times New Roman" panose="02020603050405020304" pitchFamily="18" charset="0"/>
                <a:cs typeface="Times New Roman" panose="02020603050405020304" pitchFamily="18" charset="0"/>
              </a:rPr>
              <a:t>, Jordi </a:t>
            </a:r>
            <a:r>
              <a:rPr lang="en-US" dirty="0" err="1">
                <a:latin typeface="Times New Roman" panose="02020603050405020304" pitchFamily="18" charset="0"/>
                <a:cs typeface="Times New Roman" panose="02020603050405020304" pitchFamily="18" charset="0"/>
              </a:rPr>
              <a:t>Vayreda</a:t>
            </a:r>
            <a:r>
              <a:rPr lang="en-US" dirty="0">
                <a:latin typeface="Times New Roman" panose="02020603050405020304" pitchFamily="18" charset="0"/>
                <a:cs typeface="Times New Roman" panose="02020603050405020304" pitchFamily="18" charset="0"/>
              </a:rPr>
              <a:t>, Two decades of accelerated deforestation in Peruvian forests: a national and regional analysis (2000–2020), 2024.​</a:t>
            </a:r>
          </a:p>
          <a:p>
            <a:pPr algn="just"/>
            <a:r>
              <a:rPr lang="en-US" dirty="0">
                <a:latin typeface="Times New Roman" panose="02020603050405020304" pitchFamily="18" charset="0"/>
                <a:cs typeface="Times New Roman" panose="02020603050405020304" pitchFamily="18" charset="0"/>
              </a:rPr>
              <a:t>[2] </a:t>
            </a:r>
            <a:r>
              <a:rPr lang="en-US" dirty="0" err="1">
                <a:latin typeface="Times New Roman" panose="02020603050405020304" pitchFamily="18" charset="0"/>
                <a:cs typeface="Times New Roman" panose="02020603050405020304" pitchFamily="18" charset="0"/>
              </a:rPr>
              <a:t>Chuanwu</a:t>
            </a:r>
            <a:r>
              <a:rPr lang="en-US" dirty="0">
                <a:latin typeface="Times New Roman" panose="02020603050405020304" pitchFamily="18" charset="0"/>
                <a:cs typeface="Times New Roman" panose="02020603050405020304" pitchFamily="18" charset="0"/>
              </a:rPr>
              <a:t> Zhao, </a:t>
            </a:r>
            <a:r>
              <a:rPr lang="en-US" dirty="0" err="1">
                <a:latin typeface="Times New Roman" panose="02020603050405020304" pitchFamily="18" charset="0"/>
                <a:cs typeface="Times New Roman" panose="02020603050405020304" pitchFamily="18" charset="0"/>
              </a:rPr>
              <a:t>Yaozhong</a:t>
            </a:r>
            <a:r>
              <a:rPr lang="en-US" dirty="0">
                <a:latin typeface="Times New Roman" panose="02020603050405020304" pitchFamily="18" charset="0"/>
                <a:cs typeface="Times New Roman" panose="02020603050405020304" pitchFamily="18" charset="0"/>
              </a:rPr>
              <a:t> Panl, Xiufang Zhu, Le Li, </a:t>
            </a:r>
            <a:r>
              <a:rPr lang="en-US" dirty="0" err="1">
                <a:latin typeface="Times New Roman" panose="02020603050405020304" pitchFamily="18" charset="0"/>
                <a:cs typeface="Times New Roman" panose="02020603050405020304" pitchFamily="18" charset="0"/>
              </a:rPr>
              <a:t>Xingsheng</a:t>
            </a:r>
            <a:r>
              <a:rPr lang="en-US" dirty="0">
                <a:latin typeface="Times New Roman" panose="02020603050405020304" pitchFamily="18" charset="0"/>
                <a:cs typeface="Times New Roman" panose="02020603050405020304" pitchFamily="18" charset="0"/>
              </a:rPr>
              <a:t> Xia, </a:t>
            </a:r>
            <a:r>
              <a:rPr lang="en-US" dirty="0" err="1">
                <a:latin typeface="Times New Roman" panose="02020603050405020304" pitchFamily="18" charset="0"/>
                <a:cs typeface="Times New Roman" panose="02020603050405020304" pitchFamily="18" charset="0"/>
              </a:rPr>
              <a:t>Shoujia</a:t>
            </a:r>
            <a:r>
              <a:rPr lang="en-US" dirty="0">
                <a:latin typeface="Times New Roman" panose="02020603050405020304" pitchFamily="18" charset="0"/>
                <a:cs typeface="Times New Roman" panose="02020603050405020304" pitchFamily="18" charset="0"/>
              </a:rPr>
              <a:t> Ren and Yuan Gao, Monitoring of deforestation events in the tropics using multidimensional features of Sentinel 1 radar data, 2023.</a:t>
            </a:r>
          </a:p>
          <a:p>
            <a:pPr algn="just"/>
            <a:r>
              <a:rPr lang="en-US" dirty="0">
                <a:latin typeface="Times New Roman" panose="02020603050405020304" pitchFamily="18" charset="0"/>
                <a:cs typeface="Times New Roman" panose="02020603050405020304" pitchFamily="18" charset="0"/>
              </a:rPr>
              <a:t>​[3] Gabor Fodor, Marcos V. Conde, Rapid Deforestation and Burned Area Detection using Deep Multimodal Learning on Satellite Imagery, 2023.</a:t>
            </a:r>
          </a:p>
          <a:p>
            <a:pPr algn="just"/>
            <a:r>
              <a:rPr lang="en-US" dirty="0">
                <a:latin typeface="Times New Roman" panose="02020603050405020304" pitchFamily="18" charset="0"/>
                <a:cs typeface="Times New Roman" panose="02020603050405020304" pitchFamily="18" charset="0"/>
              </a:rPr>
              <a:t>​[4] Mabel Ortega </a:t>
            </a:r>
            <a:r>
              <a:rPr lang="en-US" dirty="0" err="1">
                <a:latin typeface="Times New Roman" panose="02020603050405020304" pitchFamily="18" charset="0"/>
                <a:cs typeface="Times New Roman" panose="02020603050405020304" pitchFamily="18" charset="0"/>
              </a:rPr>
              <a:t>Adarme</a:t>
            </a:r>
            <a:r>
              <a:rPr lang="en-US" dirty="0">
                <a:latin typeface="Times New Roman" panose="02020603050405020304" pitchFamily="18" charset="0"/>
                <a:cs typeface="Times New Roman" panose="02020603050405020304" pitchFamily="18" charset="0"/>
              </a:rPr>
              <a:t> , Raul Queiroz Feitosa , Patrick Nigri Happ ,Claudio Aparecido De Almeida and Alessandra Rodrigues Gomes, Evaluation of Deep Learning Techniques for Deforestation Detection in the Brazilian Amazon and </a:t>
            </a:r>
            <a:r>
              <a:rPr lang="en-US" dirty="0" err="1">
                <a:latin typeface="Times New Roman" panose="02020603050405020304" pitchFamily="18" charset="0"/>
                <a:cs typeface="Times New Roman" panose="02020603050405020304" pitchFamily="18" charset="0"/>
              </a:rPr>
              <a:t>Cerrado</a:t>
            </a:r>
            <a:r>
              <a:rPr lang="en-US" dirty="0">
                <a:latin typeface="Times New Roman" panose="02020603050405020304" pitchFamily="18" charset="0"/>
                <a:cs typeface="Times New Roman" panose="02020603050405020304" pitchFamily="18" charset="0"/>
              </a:rPr>
              <a:t> Biomes From Remote Sensing Imagery, 2020.</a:t>
            </a:r>
          </a:p>
          <a:p>
            <a:pPr algn="just"/>
            <a:r>
              <a:rPr lang="en-US" dirty="0">
                <a:latin typeface="Times New Roman" panose="02020603050405020304" pitchFamily="18" charset="0"/>
                <a:cs typeface="Times New Roman" panose="02020603050405020304" pitchFamily="18" charset="0"/>
              </a:rPr>
              <a:t>​[5] Imran Md Jelas, Mohd Asyraf </a:t>
            </a:r>
            <a:r>
              <a:rPr lang="en-US" dirty="0" err="1">
                <a:latin typeface="Times New Roman" panose="02020603050405020304" pitchFamily="18" charset="0"/>
                <a:cs typeface="Times New Roman" panose="02020603050405020304" pitchFamily="18" charset="0"/>
              </a:rPr>
              <a:t>Zulkifley</a:t>
            </a:r>
            <a:r>
              <a:rPr lang="en-US" dirty="0">
                <a:latin typeface="Times New Roman" panose="02020603050405020304" pitchFamily="18" charset="0"/>
                <a:cs typeface="Times New Roman" panose="02020603050405020304" pitchFamily="18" charset="0"/>
              </a:rPr>
              <a:t>, Mardina Abdullah1 and Martin </a:t>
            </a:r>
            <a:r>
              <a:rPr lang="en-US" dirty="0" err="1">
                <a:latin typeface="Times New Roman" panose="02020603050405020304" pitchFamily="18" charset="0"/>
                <a:cs typeface="Times New Roman" panose="02020603050405020304" pitchFamily="18" charset="0"/>
              </a:rPr>
              <a:t>Spraggon</a:t>
            </a:r>
            <a:r>
              <a:rPr lang="en-US" dirty="0">
                <a:latin typeface="Times New Roman" panose="02020603050405020304" pitchFamily="18" charset="0"/>
                <a:cs typeface="Times New Roman" panose="02020603050405020304" pitchFamily="18" charset="0"/>
              </a:rPr>
              <a:t>, Deforestation detection using deep learning-based semantic segmentation techniques: a systematic review, 2024</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7392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FEE0A2-430B-3455-DB56-F02F4EACD507}"/>
              </a:ext>
            </a:extLst>
          </p:cNvPr>
          <p:cNvSpPr>
            <a:spLocks noGrp="1"/>
          </p:cNvSpPr>
          <p:nvPr>
            <p:ph type="sldNum" sz="quarter" idx="12"/>
          </p:nvPr>
        </p:nvSpPr>
        <p:spPr/>
        <p:txBody>
          <a:bodyPr/>
          <a:lstStyle/>
          <a:p>
            <a:fld id="{1EC248AB-E565-412B-9D95-9B07D6A4F3F3}" type="slidenum">
              <a:rPr lang="en-GB" smtClean="0"/>
              <a:pPr/>
              <a:t>18</a:t>
            </a:fld>
            <a:endParaRPr lang="en-GB"/>
          </a:p>
        </p:txBody>
      </p:sp>
      <p:sp>
        <p:nvSpPr>
          <p:cNvPr id="3" name="TextBox 7">
            <a:extLst>
              <a:ext uri="{FF2B5EF4-FFF2-40B4-BE49-F238E27FC236}">
                <a16:creationId xmlns:a16="http://schemas.microsoft.com/office/drawing/2014/main" id="{C5DF83D6-7C52-7E08-2B3B-768BAF375847}"/>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pic>
        <p:nvPicPr>
          <p:cNvPr id="6" name="Picture 2">
            <a:extLst>
              <a:ext uri="{FF2B5EF4-FFF2-40B4-BE49-F238E27FC236}">
                <a16:creationId xmlns:a16="http://schemas.microsoft.com/office/drawing/2014/main" id="{52139FD3-518D-762B-7EEF-4A544EF90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35155BF9-0A04-2E0B-696E-7F2C94168A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8" name="Picture 3" descr="C:\Users\admin\Desktop\download.png">
            <a:extLst>
              <a:ext uri="{FF2B5EF4-FFF2-40B4-BE49-F238E27FC236}">
                <a16:creationId xmlns:a16="http://schemas.microsoft.com/office/drawing/2014/main" id="{B61D4C4F-4BC2-8CCE-146A-56C9836958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154BAC07-D64D-4771-1BB8-2336734BAC5D}"/>
              </a:ext>
            </a:extLst>
          </p:cNvPr>
          <p:cNvSpPr txBox="1"/>
          <p:nvPr/>
        </p:nvSpPr>
        <p:spPr>
          <a:xfrm>
            <a:off x="683568" y="1550107"/>
            <a:ext cx="7438791" cy="2862322"/>
          </a:xfrm>
          <a:prstGeom prst="rect">
            <a:avLst/>
          </a:prstGeom>
          <a:noFill/>
        </p:spPr>
        <p:txBody>
          <a:bodyPr wrap="square">
            <a:spAutoFit/>
          </a:bodyPr>
          <a:lstStyle/>
          <a:p>
            <a:pPr algn="just"/>
            <a:r>
              <a:rPr lang="en-IN" dirty="0">
                <a:latin typeface="Times New Roman" panose="02020603050405020304" pitchFamily="18" charset="0"/>
                <a:ea typeface="Calibri" panose="020F0502020204030204" pitchFamily="34" charset="0"/>
                <a:cs typeface="Times New Roman" panose="02020603050405020304" pitchFamily="18" charset="0"/>
              </a:rPr>
              <a:t>[9]</a:t>
            </a:r>
            <a:r>
              <a:rPr lang="en-IN" dirty="0">
                <a:latin typeface="Times New Roman" panose="02020603050405020304" pitchFamily="18" charset="0"/>
                <a:cs typeface="Times New Roman" panose="02020603050405020304" pitchFamily="18" charset="0"/>
              </a:rPr>
              <a:t> Kathleen Coupland, David Hamilton, Verena C. Griess ,</a:t>
            </a:r>
            <a:r>
              <a:rPr lang="en-US" dirty="0">
                <a:latin typeface="Times New Roman" panose="02020603050405020304" pitchFamily="18" charset="0"/>
                <a:cs typeface="Times New Roman" panose="02020603050405020304" pitchFamily="18" charset="0"/>
              </a:rPr>
              <a:t> Combining aerial photos and LiDAR data to detect canopy cover change in urban forests ,(2022)</a:t>
            </a:r>
          </a:p>
          <a:p>
            <a:pPr algn="just"/>
            <a:r>
              <a:rPr lang="en-US" dirty="0">
                <a:latin typeface="Times New Roman" panose="02020603050405020304" pitchFamily="18" charset="0"/>
                <a:cs typeface="Times New Roman" panose="02020603050405020304" pitchFamily="18" charset="0"/>
              </a:rPr>
              <a:t>[10]</a:t>
            </a:r>
            <a:r>
              <a:rPr lang="en-IN" dirty="0">
                <a:latin typeface="Times New Roman" panose="02020603050405020304" pitchFamily="18" charset="0"/>
                <a:cs typeface="Times New Roman" panose="02020603050405020304" pitchFamily="18" charset="0"/>
              </a:rPr>
              <a:t> Camilo Ordóñez, S. M. Labib, Lincoln Chung, Tenley M. Conway </a:t>
            </a:r>
            <a:r>
              <a:rPr lang="en-US" dirty="0">
                <a:latin typeface="Times New Roman" panose="02020603050405020304" pitchFamily="18" charset="0"/>
                <a:cs typeface="Times New Roman" panose="02020603050405020304" pitchFamily="18" charset="0"/>
              </a:rPr>
              <a:t>, Satisfaction with urban trees associates with tree canopy cover and tree visibility around the home, (2023)</a:t>
            </a:r>
          </a:p>
          <a:p>
            <a:pPr algn="just"/>
            <a:r>
              <a:rPr lang="en-US" dirty="0">
                <a:latin typeface="Times New Roman" panose="02020603050405020304" pitchFamily="18" charset="0"/>
                <a:cs typeface="Times New Roman" panose="02020603050405020304" pitchFamily="18" charset="0"/>
              </a:rPr>
              <a:t>[11]</a:t>
            </a:r>
            <a:r>
              <a:rPr lang="en-US" sz="1800" dirty="0">
                <a:effectLst/>
                <a:latin typeface="Calibri" panose="020F0502020204030204" pitchFamily="34" charset="0"/>
                <a:ea typeface="SimSun" panose="02010600030101010101" pitchFamily="2" charset="-122"/>
                <a:cs typeface="SimSun" panose="02010600030101010101" pitchFamily="2" charset="-122"/>
              </a:rPr>
              <a:t> Zhang et al,</a:t>
            </a:r>
            <a:r>
              <a:rPr lang="en-US" sz="1800" b="1" dirty="0">
                <a:effectLst/>
                <a:latin typeface="Calibri" panose="020F0502020204030204" pitchFamily="34" charset="0"/>
                <a:ea typeface="SimSun" panose="02010600030101010101" pitchFamily="2" charset="-122"/>
                <a:cs typeface="SimSun" panose="02010600030101010101" pitchFamily="2" charset="-122"/>
              </a:rPr>
              <a:t> </a:t>
            </a:r>
            <a:r>
              <a:rPr lang="en-US" sz="1800" dirty="0">
                <a:effectLst/>
                <a:latin typeface="Calibri" panose="020F0502020204030204" pitchFamily="34" charset="0"/>
                <a:ea typeface="SimSun" panose="02010600030101010101" pitchFamily="2" charset="-122"/>
                <a:cs typeface="SimSun" panose="02010600030101010101" pitchFamily="2" charset="-122"/>
              </a:rPr>
              <a:t>Temperate forest tree species classification with winter UAV images(2025)</a:t>
            </a:r>
            <a:endParaRPr lang="en-US" dirty="0">
              <a:latin typeface="Times New Roman" panose="02020603050405020304" pitchFamily="18" charset="0"/>
              <a:ea typeface="SimSun" panose="02010600030101010101" pitchFamily="2" charset="-122"/>
              <a:cs typeface="Times New Roman" panose="02020603050405020304" pitchFamily="18" charset="0"/>
            </a:endParaRPr>
          </a:p>
          <a:p>
            <a:pPr algn="just"/>
            <a:r>
              <a:rPr lang="en-US" dirty="0">
                <a:latin typeface="Times New Roman" panose="02020603050405020304" pitchFamily="18" charset="0"/>
                <a:ea typeface="SimSun" panose="02010600030101010101" pitchFamily="2" charset="-122"/>
                <a:cs typeface="Times New Roman" panose="02020603050405020304" pitchFamily="18" charset="0"/>
              </a:rPr>
              <a:t>[12]</a:t>
            </a:r>
            <a:r>
              <a:rPr lang="en-US" sz="1800" dirty="0">
                <a:effectLst/>
                <a:latin typeface="Calibri" panose="020F0502020204030204" pitchFamily="34" charset="0"/>
                <a:ea typeface="SimSun" panose="02010600030101010101" pitchFamily="2" charset="-122"/>
                <a:cs typeface="SimSun" panose="02010600030101010101" pitchFamily="2" charset="-122"/>
              </a:rPr>
              <a:t> </a:t>
            </a:r>
            <a:r>
              <a:rPr lang="en-US" sz="1800" dirty="0" err="1">
                <a:effectLst/>
                <a:latin typeface="Calibri" panose="020F0502020204030204" pitchFamily="34" charset="0"/>
                <a:ea typeface="SimSun" panose="02010600030101010101" pitchFamily="2" charset="-122"/>
                <a:cs typeface="SimSun" panose="02010600030101010101" pitchFamily="2" charset="-122"/>
              </a:rPr>
              <a:t>Yudaputra</a:t>
            </a:r>
            <a:r>
              <a:rPr lang="en-US" sz="1800" dirty="0">
                <a:effectLst/>
                <a:latin typeface="Calibri" panose="020F0502020204030204" pitchFamily="34" charset="0"/>
                <a:ea typeface="SimSun" panose="02010600030101010101" pitchFamily="2" charset="-122"/>
                <a:cs typeface="SimSun" panose="02010600030101010101" pitchFamily="2" charset="-122"/>
              </a:rPr>
              <a:t> et al,</a:t>
            </a:r>
            <a:r>
              <a:rPr lang="en-US" sz="1800" b="1" dirty="0">
                <a:effectLst/>
                <a:latin typeface="Calibri" panose="020F0502020204030204" pitchFamily="34" charset="0"/>
                <a:ea typeface="SimSun" panose="02010600030101010101" pitchFamily="2" charset="-122"/>
                <a:cs typeface="SimSun" panose="02010600030101010101" pitchFamily="2" charset="-122"/>
              </a:rPr>
              <a:t> </a:t>
            </a:r>
            <a:r>
              <a:rPr lang="en-US" sz="1800" dirty="0">
                <a:effectLst/>
                <a:latin typeface="Calibri" panose="020F0502020204030204" pitchFamily="34" charset="0"/>
                <a:ea typeface="SimSun" panose="02010600030101010101" pitchFamily="2" charset="-122"/>
                <a:cs typeface="SimSun" panose="02010600030101010101" pitchFamily="2" charset="-122"/>
              </a:rPr>
              <a:t>Tree species identification in ex situ conservation areas using WorldView-2 Satellite Data and Machine Learning Methods: a case study in the Bogor , (2023)</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6369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43DA2-5642-6CF6-67D3-2C5EC1E875F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8C452D-B75C-D33A-D1D1-0F8DCD2DDC56}"/>
              </a:ext>
            </a:extLst>
          </p:cNvPr>
          <p:cNvSpPr>
            <a:spLocks noGrp="1"/>
          </p:cNvSpPr>
          <p:nvPr>
            <p:ph type="sldNum" sz="quarter" idx="12"/>
          </p:nvPr>
        </p:nvSpPr>
        <p:spPr/>
        <p:txBody>
          <a:bodyPr/>
          <a:lstStyle/>
          <a:p>
            <a:fld id="{1EC248AB-E565-412B-9D95-9B07D6A4F3F3}" type="slidenum">
              <a:rPr lang="en-GB" smtClean="0"/>
              <a:pPr/>
              <a:t>19</a:t>
            </a:fld>
            <a:endParaRPr lang="en-GB"/>
          </a:p>
        </p:txBody>
      </p:sp>
      <p:pic>
        <p:nvPicPr>
          <p:cNvPr id="3" name="Picture 6">
            <a:extLst>
              <a:ext uri="{FF2B5EF4-FFF2-40B4-BE49-F238E27FC236}">
                <a16:creationId xmlns:a16="http://schemas.microsoft.com/office/drawing/2014/main" id="{23B214B7-045C-E130-6382-A0E4B408DD3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4" name="Picture 3" descr="C:\Users\admin\Desktop\download.png">
            <a:extLst>
              <a:ext uri="{FF2B5EF4-FFF2-40B4-BE49-F238E27FC236}">
                <a16:creationId xmlns:a16="http://schemas.microsoft.com/office/drawing/2014/main" id="{BF01E2C6-0E92-E92D-0A6C-88DB08C04A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6199A1F9-AFDD-95EB-98B6-C4FE48AC61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7" y="121211"/>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7">
            <a:extLst>
              <a:ext uri="{FF2B5EF4-FFF2-40B4-BE49-F238E27FC236}">
                <a16:creationId xmlns:a16="http://schemas.microsoft.com/office/drawing/2014/main" id="{BF5CA8E6-6FF2-FA24-A3FC-B91FA8FE72E5}"/>
              </a:ext>
            </a:extLst>
          </p:cNvPr>
          <p:cNvSpPr txBox="1">
            <a:spLocks noChangeArrowheads="1"/>
          </p:cNvSpPr>
          <p:nvPr/>
        </p:nvSpPr>
        <p:spPr bwMode="auto">
          <a:xfrm>
            <a:off x="-897" y="1167492"/>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7" name="TextBox 6">
            <a:extLst>
              <a:ext uri="{FF2B5EF4-FFF2-40B4-BE49-F238E27FC236}">
                <a16:creationId xmlns:a16="http://schemas.microsoft.com/office/drawing/2014/main" id="{9975BE5D-CAEB-A9EE-85EA-1FE8F3861226}"/>
              </a:ext>
            </a:extLst>
          </p:cNvPr>
          <p:cNvSpPr txBox="1"/>
          <p:nvPr/>
        </p:nvSpPr>
        <p:spPr>
          <a:xfrm>
            <a:off x="1331640" y="3327067"/>
            <a:ext cx="6480720" cy="923330"/>
          </a:xfrm>
          <a:prstGeom prst="rect">
            <a:avLst/>
          </a:prstGeom>
          <a:noFill/>
        </p:spPr>
        <p:txBody>
          <a:bodyPr wrap="square">
            <a:spAutoFit/>
          </a:bodyPr>
          <a:lstStyle/>
          <a:p>
            <a:pPr algn="ctr"/>
            <a:r>
              <a:rPr lang="en-US" sz="5400" dirty="0">
                <a:latin typeface="Algerian" panose="04020705040A02060702" pitchFamily="82" charset="0"/>
              </a:rPr>
              <a:t>THANK YOU</a:t>
            </a:r>
            <a:endParaRPr lang="en-IN" sz="5400" dirty="0"/>
          </a:p>
        </p:txBody>
      </p:sp>
    </p:spTree>
    <p:extLst>
      <p:ext uri="{BB962C8B-B14F-4D97-AF65-F5344CB8AC3E}">
        <p14:creationId xmlns:p14="http://schemas.microsoft.com/office/powerpoint/2010/main" val="17959443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B6B40-6144-FAFF-50B2-8E0E916C6F3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B8B65AD-86A5-D4D9-CBFC-50E2467827FB}"/>
              </a:ext>
            </a:extLst>
          </p:cNvPr>
          <p:cNvSpPr>
            <a:spLocks noGrp="1"/>
          </p:cNvSpPr>
          <p:nvPr>
            <p:ph type="sldNum" sz="quarter" idx="12"/>
          </p:nvPr>
        </p:nvSpPr>
        <p:spPr>
          <a:xfrm>
            <a:off x="6553200" y="6309320"/>
            <a:ext cx="2133600" cy="365125"/>
          </a:xfrm>
        </p:spPr>
        <p:txBody>
          <a:bodyPr/>
          <a:lstStyle/>
          <a:p>
            <a:fld id="{1EC248AB-E565-412B-9D95-9B07D6A4F3F3}" type="slidenum">
              <a:rPr lang="en-GB" smtClean="0"/>
              <a:pPr/>
              <a:t>20</a:t>
            </a:fld>
            <a:endParaRPr lang="en-GB"/>
          </a:p>
        </p:txBody>
      </p:sp>
      <p:pic>
        <p:nvPicPr>
          <p:cNvPr id="3" name="Picture 6">
            <a:extLst>
              <a:ext uri="{FF2B5EF4-FFF2-40B4-BE49-F238E27FC236}">
                <a16:creationId xmlns:a16="http://schemas.microsoft.com/office/drawing/2014/main" id="{C50CF00F-8013-355F-6D9B-CA56731AE75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4" name="Picture 3" descr="C:\Users\admin\Desktop\download.png">
            <a:extLst>
              <a:ext uri="{FF2B5EF4-FFF2-40B4-BE49-F238E27FC236}">
                <a16:creationId xmlns:a16="http://schemas.microsoft.com/office/drawing/2014/main" id="{3B30CBE5-F5E9-CF50-53A4-E35CB1746F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4079E191-ABA7-9124-39E8-72CC142418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33537" y="121211"/>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7">
            <a:extLst>
              <a:ext uri="{FF2B5EF4-FFF2-40B4-BE49-F238E27FC236}">
                <a16:creationId xmlns:a16="http://schemas.microsoft.com/office/drawing/2014/main" id="{98110716-7EB1-8AE3-46CA-6773B7374BC5}"/>
              </a:ext>
            </a:extLst>
          </p:cNvPr>
          <p:cNvSpPr txBox="1">
            <a:spLocks noChangeArrowheads="1"/>
          </p:cNvSpPr>
          <p:nvPr/>
        </p:nvSpPr>
        <p:spPr bwMode="auto">
          <a:xfrm>
            <a:off x="-1" y="1180108"/>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a:t>
            </a:r>
            <a:endParaRPr lang="en-IN" sz="1600" b="1" dirty="0">
              <a:latin typeface="Arial Narrow" panose="020B0606020202030204" pitchFamily="34" charset="0"/>
            </a:endParaRPr>
          </a:p>
        </p:txBody>
      </p:sp>
      <p:sp>
        <p:nvSpPr>
          <p:cNvPr id="10" name="Rectangle 2">
            <a:extLst>
              <a:ext uri="{FF2B5EF4-FFF2-40B4-BE49-F238E27FC236}">
                <a16:creationId xmlns:a16="http://schemas.microsoft.com/office/drawing/2014/main" id="{ECEDEAD3-E492-7931-58D4-09361347E0AC}"/>
              </a:ext>
            </a:extLst>
          </p:cNvPr>
          <p:cNvSpPr>
            <a:spLocks noChangeArrowheads="1"/>
          </p:cNvSpPr>
          <p:nvPr/>
        </p:nvSpPr>
        <p:spPr bwMode="auto">
          <a:xfrm>
            <a:off x="323528" y="3740242"/>
            <a:ext cx="871296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11" name="TextBox 10">
            <a:extLst>
              <a:ext uri="{FF2B5EF4-FFF2-40B4-BE49-F238E27FC236}">
                <a16:creationId xmlns:a16="http://schemas.microsoft.com/office/drawing/2014/main" id="{34579E6F-EBF9-3630-28F5-0429B6F5A027}"/>
              </a:ext>
            </a:extLst>
          </p:cNvPr>
          <p:cNvSpPr txBox="1"/>
          <p:nvPr/>
        </p:nvSpPr>
        <p:spPr>
          <a:xfrm>
            <a:off x="2195736" y="5737864"/>
            <a:ext cx="4572000" cy="369332"/>
          </a:xfrm>
          <a:prstGeom prst="rect">
            <a:avLst/>
          </a:prstGeom>
          <a:noFill/>
        </p:spPr>
        <p:txBody>
          <a:bodyPr wrap="square">
            <a:spAutoFit/>
          </a:bodyPr>
          <a:lstStyle/>
          <a:p>
            <a:pPr algn="ct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Fig3: Forest AI </a:t>
            </a:r>
            <a:r>
              <a:rPr kumimoji="0" lang="en-US" altLang="en-US" sz="18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Asistant</a:t>
            </a:r>
            <a:endParaRPr lang="en-IN" dirty="0"/>
          </a:p>
        </p:txBody>
      </p:sp>
    </p:spTree>
    <p:extLst>
      <p:ext uri="{BB962C8B-B14F-4D97-AF65-F5344CB8AC3E}">
        <p14:creationId xmlns:p14="http://schemas.microsoft.com/office/powerpoint/2010/main" val="3035146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FEE0A2-430B-3455-DB56-F02F4EACD507}"/>
              </a:ext>
            </a:extLst>
          </p:cNvPr>
          <p:cNvSpPr>
            <a:spLocks noGrp="1"/>
          </p:cNvSpPr>
          <p:nvPr>
            <p:ph type="sldNum" sz="quarter" idx="12"/>
          </p:nvPr>
        </p:nvSpPr>
        <p:spPr/>
        <p:txBody>
          <a:bodyPr/>
          <a:lstStyle/>
          <a:p>
            <a:fld id="{1EC248AB-E565-412B-9D95-9B07D6A4F3F3}" type="slidenum">
              <a:rPr lang="en-GB" smtClean="0"/>
              <a:pPr/>
              <a:t>21</a:t>
            </a:fld>
            <a:endParaRPr lang="en-GB"/>
          </a:p>
        </p:txBody>
      </p:sp>
      <p:sp>
        <p:nvSpPr>
          <p:cNvPr id="3" name="TextBox 7">
            <a:extLst>
              <a:ext uri="{FF2B5EF4-FFF2-40B4-BE49-F238E27FC236}">
                <a16:creationId xmlns:a16="http://schemas.microsoft.com/office/drawing/2014/main" id="{C5DF83D6-7C52-7E08-2B3B-768BAF375847}"/>
              </a:ext>
            </a:extLst>
          </p:cNvPr>
          <p:cNvSpPr txBox="1">
            <a:spLocks noChangeArrowheads="1"/>
          </p:cNvSpPr>
          <p:nvPr/>
        </p:nvSpPr>
        <p:spPr bwMode="auto">
          <a:xfrm>
            <a:off x="36512"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Presentation </a:t>
            </a:r>
            <a:endParaRPr lang="en-IN" sz="1600" b="1" dirty="0">
              <a:latin typeface="Arial Narrow" panose="020B0606020202030204" pitchFamily="34" charset="0"/>
            </a:endParaRPr>
          </a:p>
        </p:txBody>
      </p:sp>
      <p:pic>
        <p:nvPicPr>
          <p:cNvPr id="6" name="Picture 2">
            <a:extLst>
              <a:ext uri="{FF2B5EF4-FFF2-40B4-BE49-F238E27FC236}">
                <a16:creationId xmlns:a16="http://schemas.microsoft.com/office/drawing/2014/main" id="{52139FD3-518D-762B-7EEF-4A544EF90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6">
            <a:extLst>
              <a:ext uri="{FF2B5EF4-FFF2-40B4-BE49-F238E27FC236}">
                <a16:creationId xmlns:a16="http://schemas.microsoft.com/office/drawing/2014/main" id="{35155BF9-0A04-2E0B-696E-7F2C94168A1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8" name="Picture 3" descr="C:\Users\admin\Desktop\download.png">
            <a:extLst>
              <a:ext uri="{FF2B5EF4-FFF2-40B4-BE49-F238E27FC236}">
                <a16:creationId xmlns:a16="http://schemas.microsoft.com/office/drawing/2014/main" id="{B61D4C4F-4BC2-8CCE-146A-56C9836958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99868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54D5A07-2855-7DFC-F982-5A01D1B672AC}"/>
              </a:ext>
            </a:extLst>
          </p:cNvPr>
          <p:cNvSpPr>
            <a:spLocks noGrp="1"/>
          </p:cNvSpPr>
          <p:nvPr>
            <p:ph type="sldNum" sz="quarter" idx="12"/>
          </p:nvPr>
        </p:nvSpPr>
        <p:spPr/>
        <p:txBody>
          <a:bodyPr/>
          <a:lstStyle/>
          <a:p>
            <a:fld id="{1EC248AB-E565-412B-9D95-9B07D6A4F3F3}" type="slidenum">
              <a:rPr lang="en-GB" smtClean="0"/>
              <a:pPr/>
              <a:t>22</a:t>
            </a:fld>
            <a:endParaRPr lang="en-GB"/>
          </a:p>
        </p:txBody>
      </p:sp>
      <p:pic>
        <p:nvPicPr>
          <p:cNvPr id="3" name="Picture 6">
            <a:extLst>
              <a:ext uri="{FF2B5EF4-FFF2-40B4-BE49-F238E27FC236}">
                <a16:creationId xmlns:a16="http://schemas.microsoft.com/office/drawing/2014/main" id="{68AF0A7B-BF47-1DE0-839C-60BE3121223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tretch>
            <a:fillRect/>
          </a:stretch>
        </p:blipFill>
        <p:spPr bwMode="auto">
          <a:xfrm>
            <a:off x="467544" y="19232"/>
            <a:ext cx="1202454" cy="1033504"/>
          </a:xfrm>
          <a:prstGeom prst="rect">
            <a:avLst/>
          </a:prstGeom>
          <a:noFill/>
          <a:ln w="9525">
            <a:noFill/>
            <a:miter lim="800000"/>
            <a:headEnd/>
            <a:tailEnd/>
          </a:ln>
        </p:spPr>
      </p:pic>
      <p:pic>
        <p:nvPicPr>
          <p:cNvPr id="4" name="Picture 3" descr="C:\Users\admin\Desktop\download.png">
            <a:extLst>
              <a:ext uri="{FF2B5EF4-FFF2-40B4-BE49-F238E27FC236}">
                <a16:creationId xmlns:a16="http://schemas.microsoft.com/office/drawing/2014/main" id="{67D8BB4D-C3EA-A3DB-B516-52CF2C3530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52320" y="44624"/>
            <a:ext cx="1207008" cy="1033505"/>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
            <a:extLst>
              <a:ext uri="{FF2B5EF4-FFF2-40B4-BE49-F238E27FC236}">
                <a16:creationId xmlns:a16="http://schemas.microsoft.com/office/drawing/2014/main" id="{EBD517B7-8846-5CA6-5861-0BCA079CA6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0049" y="10700"/>
            <a:ext cx="5876925" cy="1189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 name="TextBox 7">
            <a:extLst>
              <a:ext uri="{FF2B5EF4-FFF2-40B4-BE49-F238E27FC236}">
                <a16:creationId xmlns:a16="http://schemas.microsoft.com/office/drawing/2014/main" id="{68CFF3DF-1072-576E-C8AF-9FE7BCF39A9B}"/>
              </a:ext>
            </a:extLst>
          </p:cNvPr>
          <p:cNvSpPr txBox="1">
            <a:spLocks noChangeArrowheads="1"/>
          </p:cNvSpPr>
          <p:nvPr/>
        </p:nvSpPr>
        <p:spPr bwMode="auto">
          <a:xfrm>
            <a:off x="0" y="1052736"/>
            <a:ext cx="9144000" cy="338554"/>
          </a:xfrm>
          <a:prstGeom prst="rect">
            <a:avLst/>
          </a:prstGeom>
          <a:solidFill>
            <a:srgbClr val="FFC000"/>
          </a:solidFill>
          <a:ln w="9525">
            <a:noFill/>
            <a:miter lim="800000"/>
          </a:ln>
        </p:spPr>
        <p:txBody>
          <a:bodyPr wrap="square">
            <a:spAutoFit/>
          </a:bodyPr>
          <a:lstStyle/>
          <a:p>
            <a:pPr algn="ctr"/>
            <a:r>
              <a:rPr lang="en-US" sz="1600" b="1" dirty="0">
                <a:latin typeface="Arial Narrow" panose="020B0606020202030204" pitchFamily="34" charset="0"/>
              </a:rPr>
              <a:t>Project Phase II </a:t>
            </a:r>
            <a:endParaRPr lang="en-IN" sz="1600" b="1" dirty="0">
              <a:latin typeface="Arial Narrow" panose="020B0606020202030204" pitchFamily="34" charset="0"/>
            </a:endParaRPr>
          </a:p>
        </p:txBody>
      </p:sp>
    </p:spTree>
    <p:extLst>
      <p:ext uri="{BB962C8B-B14F-4D97-AF65-F5344CB8AC3E}">
        <p14:creationId xmlns:p14="http://schemas.microsoft.com/office/powerpoint/2010/main" val="22234606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3733</TotalTime>
  <Words>1407</Words>
  <Application>Microsoft Office PowerPoint</Application>
  <PresentationFormat>On-screen Show (4:3)</PresentationFormat>
  <Paragraphs>129</Paragraphs>
  <Slides>22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Algerian</vt:lpstr>
      <vt:lpstr>Arial</vt:lpstr>
      <vt:lpstr>Arial Narrow</vt:lpstr>
      <vt:lpstr>Calibri</vt:lpstr>
      <vt:lpstr>Times New Roman</vt:lpstr>
      <vt:lpstr>Office Theme</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Nutan Maharashtra Vidya Prasarak Mandal’s   NUTAN COLLEGE OF ENGINEERING AND RESEARCH  Under Administrative Support of Pimpri Chinchwad  Education Trust  ISO 21001:2018 EOMS Certified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Nutan Maharashtra Vidya Prasarak Mandal’s   NUTAN COLLEGE OF ENGINEERING AND RESEARCH  Under Administrative Support of Pimpri Chinchwad  Education Trust  ISO 21001:2018 EOMS Certified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Kevin Hickey</dc:creator>
  <cp:lastModifiedBy>Sakshi Pawar</cp:lastModifiedBy>
  <cp:revision>174</cp:revision>
  <dcterms:created xsi:type="dcterms:W3CDTF">2010-06-24T14:41:07Z</dcterms:created>
  <dcterms:modified xsi:type="dcterms:W3CDTF">2025-06-21T07:35:51Z</dcterms:modified>
</cp:coreProperties>
</file>